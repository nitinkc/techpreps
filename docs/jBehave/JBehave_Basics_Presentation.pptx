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1"/>
  </p:normalViewPr>
  <p:slideViewPr>
    <p:cSldViewPr snapToGrid="0" snapToObjects="1">
      <p:cViewPr varScale="1">
        <p:scale>
          <a:sx n="116" d="100"/>
          <a:sy n="116" d="100"/>
        </p:scale>
        <p:origin x="14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57C33B-56C5-D041-BA6F-DEE61FE005A5}" type="datetimeFigureOut">
              <a:rPr lang="en-US" smtClean="0"/>
              <a:t>11/1/25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78B2A5-30B7-7648-8F59-60DAEA8CCA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62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Emphasize shared language and traceability from requirements to automated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In our repo, stories are under `rtdx-functional-test/src/test/resources/stories/`.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Consistent naming improves maintainability.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Keep patterns stable; changing them breaks story-to-code binding.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Tag with `@testType` to enable selective CI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ThreadLocal isolates parallel scenario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Potential optimization: replace static sleeps with polling.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Separation of staging vs final tables allows diff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Serializing to JSON strings avoids brittle object reference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Scenario rows provide expectedResponseCode parameter.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Idempotent cleanup prevents test data accumulation.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Use consistent tag taxonomy for CI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Document NA semantics for new contributors.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Consider adding soft assertions if multiple validations per step become critical.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Maintain version stability in model classes to avoid test breakage.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Keeps step definitions thin and focused on orchestration.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Optimize only after stability; measure flakiness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Review step patterns quarterly for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Add validation to detect orphaned test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Prefer incremental additions; keep stories small (&lt; ~200 lines).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Check actual project runner config for exact filter syntax.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Consider exporting results to dashboard keyed by testcaseid.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Document special case transformations.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Prioritize based on test runtime &amp; flakiness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Include in onboarding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Perform dry run locally before 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Encourage contributors to read official docs for advanced features (composite steps, parameter converters).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Keep snippets minimal; full file exists in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Consider consolidating sequential cleanup steps into lifecycle hooks to reduce repetition.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Meta filters are additive/subtractive; clearly document precedence in CONTRIBUTING.md.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BDD (Behavior-Driven Development): write executable specifications in human-readable form (Gherkin/JBehave stories) that map directly to automated step code.</a:t>
            </a:r>
          </a:p>
          <a:p>
            <a:pPr>
              <a:defRPr sz="1300"/>
            </a:pPr>
            <a:r>
              <a:t>- Goals: improve collaboration across product/QA/engineering, provide living documentation, and enable clear acceptance criteria.</a:t>
            </a:r>
          </a:p>
          <a:p>
            <a:pPr>
              <a:defRPr sz="1300"/>
            </a:pPr>
            <a:r>
              <a:t>- When to use BDD: for business-facing behavior, acceptance criteria, or complex workflows that benefit from readable specs and stakeholder buy-in.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What is JBehave?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Behavior-Driven Development (BDD) framework for Java.</a:t>
            </a:r>
          </a:p>
          <a:p>
            <a:pPr>
              <a:defRPr sz="1300"/>
            </a:pPr>
            <a:r>
              <a:t>Defines executable specifications using human-readable stories (plain text).</a:t>
            </a:r>
          </a:p>
          <a:p>
            <a:pPr>
              <a:defRPr sz="1300"/>
            </a:pPr>
            <a:r>
              <a:t>Maps natural language steps (Given/When/Then) to Java methods via annotations.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What is JBehave? (cont.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Facilitates collaboration between product, QA, and engineering.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Story: A text file (".story") containing narrative + scenarios.</a:t>
            </a:r>
          </a:p>
          <a:p>
            <a:pPr>
              <a:defRPr sz="1300"/>
            </a:pPr>
            <a:r>
              <a:t>- Scenario: A concrete example describing behavior.</a:t>
            </a:r>
          </a:p>
          <a:p>
            <a:pPr>
              <a:defRPr sz="1300"/>
            </a:pPr>
            <a:r>
              <a:t>- Steps: Given (context), When (action), Then (outcome/assertions).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Core Concepts (cont.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Examples Table: Data-driven scenario parameters.</a:t>
            </a:r>
          </a:p>
          <a:p>
            <a:pPr>
              <a:defRPr sz="1300"/>
            </a:pPr>
            <a:r>
              <a:t>- Meta: Tags/metadata controlling filtering/grouping (e.g., @testType functional).</a:t>
            </a:r>
          </a:p>
          <a:p>
            <a:pPr>
              <a:defRPr sz="1300"/>
            </a:pPr>
            <a:r>
              <a:t>- Lifecycle: Hooks (BeforeStories/AfterStories/BeforeScenario/AfterScenario) for setup/teardown.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Story File Anatomy (From FT-recipe-service.story)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900"/>
            </a:pPr>
            <a:r>
              <a:t>Code:</a:t>
            </a:r>
            <a:br/>
            <a:r>
              <a:t>Meta:</a:t>
            </a:r>
            <a:br/>
            <a:r>
              <a:t>@component rtdx-product-flow</a:t>
            </a:r>
            <a:br/>
            <a:br/>
            <a:r>
              <a:t>Narrative:rtdx-product-recipe-service-flow functional test</a:t>
            </a:r>
            <a:br/>
            <a:br/>
            <a:r>
              <a:t>Scenario: (1) opc create smoke</a:t>
            </a:r>
            <a:br/>
            <a:r>
              <a:t>Meta: @testType functional smoke</a:t>
            </a:r>
            <a:br/>
            <a:r>
              <a:t>Given initialize the test with &lt;lineItemSku&gt; &lt;lineItemQty&gt; &lt;childLineItemSkus&gt; and &lt;childLineItemQtysPerLineItem&gt;</a:t>
            </a:r>
            <a:br/>
            <a:r>
              <a:t>When invoke opc endpoint with &lt;country&gt;</a:t>
            </a:r>
            <a:br/>
            <a:r>
              <a:t>Then validate the response with &lt;responseFile&gt;</a:t>
            </a:r>
            <a:br/>
            <a:br/>
            <a:r>
              <a:t>Examples:</a:t>
            </a:r>
            <a:br/>
            <a:r>
              <a:t>|testcaseid |country |lineItemSku |lineItemQty |childLineItemSkus |childLineItemQtysPerLineItem |responseFile</a:t>
            </a:r>
            <a:br/>
            <a:r>
              <a:t>|FT-rtdx-product-recipe-01-01 |ca |11168754 |1 |NA |NA |response/opcNonBeverage_20.json</a:t>
            </a:r>
          </a:p>
          <a:p>
            <a:pPr>
              <a:defRPr sz="1300"/>
            </a:pPr>
            <a:r>
              <a:t>Key elements: Meta tags, Scenario title, Steps with angle-bracket parameters, Examples table for data rows.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Parameterization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Angle bracket placeholders (&lt;param&gt;) replaced per Examples row.</a:t>
            </a:r>
          </a:p>
          <a:p>
            <a:pPr>
              <a:defRPr sz="1300"/>
            </a:pPr>
            <a:r>
              <a:t>- Column headers must match placeholders exactly (case-sensitive).</a:t>
            </a:r>
          </a:p>
          <a:p>
            <a:pPr>
              <a:defRPr sz="1300"/>
            </a:pPr>
            <a:r>
              <a:t>- Each row = one executed scenario iteration.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Parameterization Mechanics (cont.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Special values like "NA" used to skip optional logic paths.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Pattern Styles &amp; Step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Pattern styles used in project:</a:t>
            </a:r>
          </a:p>
          <a:p>
            <a:pPr>
              <a:defRPr sz="1300"/>
            </a:pPr>
            <a:r>
              <a:t>1. Direct variable substitution: publish $eventType event...</a:t>
            </a:r>
          </a:p>
          <a:p>
            <a:pPr>
              <a:defRPr sz="1300"/>
            </a:pPr>
            <a:r>
              <a:t>2. Mixed text &amp; params: staging records from $stagingInputFile 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Pattern Styles &amp; Step Definitions (cont.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3. No explicit @Named when positional mapping suffices (rare; we use @Named for clarity).</a:t>
            </a:r>
          </a:p>
          <a:p>
            <a:pPr>
              <a:defRPr sz="1300"/>
            </a:pPr>
            <a:r>
              <a:t>- Use commas in parameters to handle multi-file inputs (split logic internally).</a:t>
            </a:r>
          </a:p>
          <a:p>
            <a:pPr>
              <a:defRPr sz="1300"/>
            </a:pPr>
            <a:r>
              <a:t>Annotations: @Given, @When, @Then (plus @AfterStories).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Pattern Styles &amp; Step Definitions (cont.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Pattern matching of the textual step to method signature.</a:t>
            </a:r>
          </a:p>
          <a:p>
            <a:pPr>
              <a:defRPr sz="1300"/>
            </a:pPr>
            <a:r>
              <a:t>@Named("param") binds example table value to method parameter.</a:t>
            </a:r>
          </a:p>
          <a:p>
            <a:pPr>
              <a:defRPr sz="1300"/>
            </a:pPr>
            <a:r>
              <a:t>Supports multiple annotated methods with similar prefixes (overloads by pattern).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Pattern Styles &amp; Step Definitions (cont. 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Example:</a:t>
            </a:r>
          </a:p>
          <a:p>
            <a:pPr>
              <a:defRPr sz="900"/>
            </a:pPr>
            <a:r>
              <a:t>Code:</a:t>
            </a:r>
            <a:br/>
            <a:r>
              <a:t>@Given("publish $eventType event to EH using file $xmlfile with $countryCode")</a:t>
            </a:r>
            <a:br/>
            <a:r>
              <a:t>public void setTestDataAndPublishEventPayload(</a:t>
            </a:r>
            <a:br/>
            <a:r>
              <a:t>    @Named("eventType") String eventType,</a:t>
            </a:r>
            <a:br/>
            <a:r>
              <a:t>    @Named("xmlfile") String xmlFile,</a:t>
            </a:r>
            <a:br/>
            <a:r>
              <a:t>    @Named("countryCode") String countryCode) { /* implementation omitted */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Test Types and Decision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Component: fast, isolated tests for a single service/module (mock external dependencies). Good for developer feedback.</a:t>
            </a:r>
          </a:p>
          <a:p>
            <a:pPr>
              <a:defRPr sz="1300"/>
            </a:pPr>
            <a:r>
              <a:t>- Integration: tests across multiple components or services (real or containerized dependencies). Good for validating interactions.</a:t>
            </a:r>
          </a:p>
          <a:p>
            <a:pPr>
              <a:defRPr sz="1300"/>
            </a:pPr>
            <a:r>
              <a:t>- Functional / E2E: end-to-end business flow validation in a full stack environment. Good for acceptance testing.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Test Types and Decision Guide (cont.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Regression: broad suites verifying previously working features remain stable after changes. Run before major releases.</a:t>
            </a:r>
          </a:p>
          <a:p>
            <a:pPr>
              <a:defRPr sz="1300"/>
            </a:pPr>
            <a:r>
              <a:t>- Smoke: small, fast checks of critical paths after deployment.</a:t>
            </a:r>
          </a:p>
          <a:p>
            <a:pPr>
              <a:defRPr sz="1300"/>
            </a:pPr>
            <a:r>
              <a:t>Quick checklist to pick a test type: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Test Types and Decision Guide (cont.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Scope = single class / service -&gt; Component</a:t>
            </a:r>
          </a:p>
          <a:p>
            <a:pPr>
              <a:defRPr sz="1300"/>
            </a:pPr>
            <a:r>
              <a:t>- Scope = couple services / DB interactions -&gt; Integration</a:t>
            </a:r>
          </a:p>
          <a:p>
            <a:pPr>
              <a:defRPr sz="1300"/>
            </a:pPr>
            <a:r>
              <a:t>- Scope = full user/business flow -&gt; Functional / E2E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Test Types and Decision Guide (cont. 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Need very fast feedback -&gt; Component/Smoke</a:t>
            </a:r>
          </a:p>
          <a:p>
            <a:pPr>
              <a:defRPr sz="1300"/>
            </a:pPr>
            <a:r>
              <a:t>- Need long-term replay/validation -&gt; Regression</a:t>
            </a:r>
          </a:p>
          <a:p>
            <a:pPr>
              <a:defRPr sz="1300"/>
            </a:pPr>
            <a:r>
              <a:t>Decision flow (short):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Test Types and Decision Guide (cont.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1. Who cares about the result? (Dev -&gt; Component; Product/QA -&gt; Functional)</a:t>
            </a:r>
          </a:p>
          <a:p>
            <a:pPr>
              <a:defRPr sz="1300"/>
            </a:pPr>
            <a:r>
              <a:t>2. Does the scenario require external systems? (Yes -&gt; Integration; No -&gt; Component)</a:t>
            </a:r>
          </a:p>
          <a:p>
            <a:pPr>
              <a:defRPr sz="1300"/>
            </a:pPr>
            <a:r>
              <a:t>3. Is it a critical path for production? (Yes -&gt; include in Smoke/Regression)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Test Types and Decision Guide (cont. 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Guidance:</a:t>
            </a:r>
          </a:p>
          <a:p>
            <a:pPr>
              <a:defRPr sz="1300"/>
            </a:pPr>
            <a:r>
              <a:t>- Align frequency with the test pyramid: many component, fewer integration, fewest functional/regression.</a:t>
            </a:r>
          </a:p>
          <a:p>
            <a:pPr>
              <a:defRPr sz="1300"/>
            </a:pPr>
            <a:r>
              <a:t>- Use @testType meta tags so CI can select appropriate subsets.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Test Types and Decision Guide (cont. 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If you want further granularity, add @priority and @duration meta tags.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Test Types Overview (Meta Tag Strategy)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Categories used (from executive summary):</a:t>
            </a:r>
          </a:p>
          <a:p>
            <a:pPr>
              <a:defRPr sz="1300"/>
            </a:pPr>
            <a:r>
              <a:t>- component: isolated service or module verification.</a:t>
            </a:r>
          </a:p>
          <a:p>
            <a:pPr>
              <a:defRPr sz="1300"/>
            </a:pPr>
            <a:r>
              <a:t>- integration: multi-service / external system interaction.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Test Types Overview (Meta Tag Strategy) (cont.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functional: business rule &amp; user-facing behavior.</a:t>
            </a:r>
          </a:p>
          <a:p>
            <a:pPr>
              <a:defRPr sz="1300"/>
            </a:pPr>
            <a:r>
              <a:t>- regression: broad re-run for stability assurance.</a:t>
            </a:r>
          </a:p>
          <a:p>
            <a:pPr>
              <a:defRPr sz="1300"/>
            </a:pPr>
            <a:r>
              <a:t>- smoke: rapid critical-path health check.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Test Types Overview (Meta Tag Strategy) (cont.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Guidelines:</a:t>
            </a:r>
          </a:p>
          <a:p>
            <a:pPr>
              <a:defRPr sz="1300"/>
            </a:pPr>
            <a:r>
              <a:t>- Prefer single primary @testType; add secondary only when justified (e.g., component regression for a critical component scenario included in regression pack).</a:t>
            </a:r>
          </a:p>
          <a:p>
            <a:pPr>
              <a:defRPr sz="1300"/>
            </a:pPr>
            <a:r>
              <a:t>- Align execution frequency with pyramid (many component, few functional/regression).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Test Types Overview (Meta Tag Strategy) (cont. 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Maintain a taxonomy doc; avoid tag proliferation (keeps filtering predictable).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Decision Guide &amp; Examples (concise)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Example Gherkin (concise):</a:t>
            </a:r>
          </a:p>
          <a:p>
            <a:pPr>
              <a:defRPr sz="900"/>
            </a:pPr>
            <a:r>
              <a:t>Code:</a:t>
            </a:r>
            <a:br/>
            <a:r>
              <a:t>Feature: Create product recipe</a:t>
            </a:r>
            <a:br/>
            <a:r>
              <a:t>  Scenario: Product manager creates beverage</a:t>
            </a:r>
            <a:br/>
            <a:r>
              <a:t>    Given I am logged in as product manager</a:t>
            </a:r>
            <a:br/>
            <a:r>
              <a:t>    When I create a beverage with ingredients</a:t>
            </a:r>
            <a:br/>
            <a:r>
              <a:t>    Then the recipe should be available for baristas</a:t>
            </a:r>
          </a:p>
          <a:p>
            <a:pPr>
              <a:defRPr sz="1300"/>
            </a:pPr>
            <a:r>
              <a:t>Java step mapping (example):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Decision Guide &amp; Examples (concise) (cont.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900"/>
            </a:pPr>
            <a:r>
              <a:t>Code:</a:t>
            </a:r>
            <a:br/>
            <a:r>
              <a:t>@Given("I am logged in as product manager")</a:t>
            </a:r>
            <a:br/>
            <a:r>
              <a:t>public void loginAsProductManager() {</a:t>
            </a:r>
            <a:br/>
            <a:r>
              <a:t>    // setup user/session for scenario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Test Data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ThreadLocal testData holds a Map&lt;String, Supplier&lt;String&gt;&gt; across step executions in one scenario.</a:t>
            </a:r>
          </a:p>
          <a:p>
            <a:pPr>
              <a:defRPr sz="1300"/>
            </a:pPr>
            <a:r>
              <a:t>- Data generated once per scenario: payloadGeneratorService.generateProductDataMap(countryCode).</a:t>
            </a:r>
          </a:p>
          <a:p>
            <a:pPr>
              <a:defRPr sz="1300"/>
            </a:pPr>
            <a:r>
              <a:t>- Re-used for subsequent Given steps (e.g., chains of publishes).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Test Data Strategy (cont.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Ensures correlated IDs (SKU, correlationId) remain consistent.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Publishing &amp; Event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Given steps produce payloads from XML templates (may contain tokens substituted by suppliers).</a:t>
            </a:r>
          </a:p>
          <a:p>
            <a:pPr>
              <a:defRPr sz="1300"/>
            </a:pPr>
            <a:r>
              <a:t>- payloadGeneratorService.generatePayloadFromXml(file, map) builds final event JSON/XML.</a:t>
            </a:r>
          </a:p>
          <a:p>
            <a:pPr>
              <a:defRPr sz="1300"/>
            </a:pPr>
            <a:r>
              <a:t>- resourceClientService.publishPayloadToEventhub(eventType, payload, map) sends to Event Hub.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Publishing &amp; Event Flow (cont.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Sleep intervals (Thread.sleep) allow downstream ingestion before validations.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Staging Record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Some scenarios pre-insert staging rows before publishing events.</a:t>
            </a:r>
          </a:p>
          <a:p>
            <a:pPr>
              <a:defRPr sz="1300"/>
            </a:pPr>
            <a:r>
              <a:t>- Method handleStagingRecords(eventType, stagingInputTranslation, map) parses JSON to domain objects and inserts into Cassandra via databaseClientService.</a:t>
            </a:r>
          </a:p>
          <a:p>
            <a:pPr>
              <a:defRPr sz="1300"/>
            </a:pPr>
            <a:r>
              <a:t>- Conditional logic: if status == PERSISTED then also insert final product recipe record.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Validation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Then steps query Cassandra for inserted data.</a:t>
            </a:r>
          </a:p>
          <a:p>
            <a:pPr>
              <a:defRPr sz="1300"/>
            </a:pPr>
            <a:r>
              <a:t>- Use domain model deserialization (convertPayloadToObject) + deep structural equality via Jackson serialization.</a:t>
            </a:r>
          </a:p>
          <a:p>
            <a:pPr>
              <a:defRPr sz="1300"/>
            </a:pPr>
            <a:r>
              <a:t>- Count assertions ensure expected number of rows.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Validation Patterns (cont.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Diff validations compare arrays of DataStagingDifferences objects.</a:t>
            </a:r>
          </a:p>
          <a:p>
            <a:pPr>
              <a:defRPr sz="1300"/>
            </a:pPr>
            <a:r>
              <a:t>- Special case validations (HTTP response codes) via resourceClientService.invokeEphProductService.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Example: Response Validation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Story step:</a:t>
            </a:r>
          </a:p>
          <a:p>
            <a:pPr>
              <a:defRPr sz="1300"/>
            </a:pPr>
            <a:r>
              <a:t>Then validate read service 200 after ingestion</a:t>
            </a:r>
          </a:p>
          <a:p>
            <a:pPr>
              <a:defRPr sz="1300"/>
            </a:pPr>
            <a:r>
              <a:t>Mapped method asserts status code, body existence, presence of mandatory fields, null / non-null conditions based on expected code.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Cleanup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Per-scenario cleanup steps delete inserted rows based on event type.</a:t>
            </a:r>
          </a:p>
          <a:p>
            <a:pPr>
              <a:defRPr sz="1300"/>
            </a:pPr>
            <a:r>
              <a:t>- @Then("cleanup the $eventType story data using file $xmlFile") replays expected payload for accurate key extraction.</a:t>
            </a:r>
          </a:p>
          <a:p>
            <a:pPr>
              <a:defRPr sz="1300"/>
            </a:pPr>
            <a:r>
              <a:t>- @AfterStories clears Kafka consumer groups to avoid state leakage.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Meta Tags &amp;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Meta lines: Meta: @testType functional smoke.</a:t>
            </a:r>
          </a:p>
          <a:p>
            <a:pPr>
              <a:defRPr sz="1300"/>
            </a:pPr>
            <a:r>
              <a:t>- Allows selecting subsets (e.g., smoke vs regression) via JBehave configuration (storyFilter or meta filters in runner).</a:t>
            </a:r>
          </a:p>
          <a:p>
            <a:pPr>
              <a:defRPr sz="1300"/>
            </a:pPr>
            <a:r>
              <a:t>- Other tag: @component rtdx-product-flow for grouping.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Handling Optional / NA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Convention: parameter value "NA" triggers early return or skip logic (e.g., skip publishing or validation).</a:t>
            </a:r>
          </a:p>
          <a:p>
            <a:pPr>
              <a:defRPr sz="1300"/>
            </a:pPr>
            <a:r>
              <a:t>- Simplifies examples table by keeping a single scenario structure.</a:t>
            </a:r>
          </a:p>
          <a:p>
            <a:pPr>
              <a:defRPr sz="1300"/>
            </a:pPr>
            <a:r>
              <a:t>- Ensure step code checks "NA".equalsIgnoreCase(value) before actions.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17. Error Handling &amp; Assertions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JUnit Jupiter assertions: assertEquals, assertTrue, assertFalse, assertNotNull.</a:t>
            </a:r>
          </a:p>
          <a:p>
            <a:pPr>
              <a:defRPr sz="1300"/>
            </a:pPr>
            <a:r>
              <a:t>- Descriptive messages for mismatch contexts (sku, country, status).</a:t>
            </a:r>
          </a:p>
          <a:p>
            <a:pPr>
              <a:defRPr sz="1300"/>
            </a:pPr>
            <a:r>
              <a:t>- Minimal custom exception usage; rely on assertion failures to mark scenario fail.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Data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Domain classes: productDetail, componentConsumption, baseProductConsumption, etc.</a:t>
            </a:r>
          </a:p>
          <a:p>
            <a:pPr>
              <a:defRPr sz="1300"/>
            </a:pPr>
            <a:r>
              <a:t>- Mapper choices: Jackson ObjectMapper for JSON, XmlMapper for XML.</a:t>
            </a:r>
          </a:p>
          <a:p>
            <a:pPr>
              <a:defRPr sz="1300"/>
            </a:pPr>
            <a:r>
              <a:t>- Use of TypeReference&lt;&gt; for generic collections (e.g., new TypeReference&lt;List&lt;ConsumptionStagingRecord&gt;&gt;() {}).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Reusable Utilities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convertPayloadToObject centralizes serialization logic.</a:t>
            </a:r>
          </a:p>
          <a:p>
            <a:pPr>
              <a:defRPr sz="1300"/>
            </a:pPr>
            <a:r>
              <a:t>- payloadGeneratorService handles token replacement and dynamic test data injection.</a:t>
            </a:r>
          </a:p>
          <a:p>
            <a:pPr>
              <a:defRPr sz="1300"/>
            </a:pPr>
            <a:r>
              <a:t>- databaseClientService encapsulates persistence layer queries/deletes.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20. Performance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Current design uses fixed sleeps (5s / 10s). Could extend with polling loops checking ingestion completion.</a:t>
            </a:r>
          </a:p>
          <a:p>
            <a:pPr>
              <a:defRPr sz="1300"/>
            </a:pPr>
            <a:r>
              <a:t>- Bulk inserts done sequentially; potential for batching if supported by service.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Best Practices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Keep story language consistent &amp; business-oriented.</a:t>
            </a:r>
          </a:p>
          <a:p>
            <a:pPr>
              <a:defRPr sz="1300"/>
            </a:pPr>
            <a:r>
              <a:t>- Name example columns clearly; avoid ambiguous abbreviations.</a:t>
            </a:r>
          </a:p>
          <a:p>
            <a:pPr>
              <a:defRPr sz="1300"/>
            </a:pPr>
            <a:r>
              <a:t>- Limit one behavior focus per scenario section; use separate Scenarios for variants.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21. Best Practices Summary (cont.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Centralize data generation; avoid duplication inside steps.</a:t>
            </a:r>
          </a:p>
          <a:p>
            <a:pPr>
              <a:defRPr sz="1300"/>
            </a:pPr>
            <a:r>
              <a:t>- Ensure cleanup is always reachable (even after failure) via lifecycle hooks.</a:t>
            </a:r>
          </a:p>
          <a:p>
            <a:pPr>
              <a:defRPr sz="1300"/>
            </a:pPr>
            <a:r>
              <a:t>- Tag stories for selective execution in CI.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22. Common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Changing annotation text breaks story binding.</a:t>
            </a:r>
          </a:p>
          <a:p>
            <a:pPr>
              <a:defRPr sz="1300"/>
            </a:pPr>
            <a:r>
              <a:t>- Mismatched example headers vs placeholder names -&gt; missing parameter injection.</a:t>
            </a:r>
          </a:p>
          <a:p>
            <a:pPr>
              <a:defRPr sz="1300"/>
            </a:pPr>
            <a:r>
              <a:t>- Overuse of sleeps leads to long test cycles.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22. Common Pitfalls (cont.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Skipping cleanup causes environment contamination.</a:t>
            </a:r>
          </a:p>
          <a:p>
            <a:pPr>
              <a:defRPr sz="1300"/>
            </a:pPr>
            <a:r>
              <a:t>- Non-deterministic data (timestamps) must be normalized or offset-managed.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23. Extending the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Add new story: place under stories/, include Meta tags.</a:t>
            </a:r>
          </a:p>
          <a:p>
            <a:pPr>
              <a:defRPr sz="1300"/>
            </a:pPr>
            <a:r>
              <a:t>- Create/extend step method with precise pattern.</a:t>
            </a:r>
          </a:p>
          <a:p>
            <a:pPr>
              <a:defRPr sz="1300"/>
            </a:pPr>
            <a:r>
              <a:t>- Add domain serialization if new payload types introduced.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23. Extending the Suite (cont.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Add targeted cleanup logic for new tables.</a:t>
            </a:r>
          </a:p>
          <a:p>
            <a:pPr>
              <a:defRPr sz="1300"/>
            </a:pPr>
            <a:r>
              <a:t>- Update CI meta filters if introducing new tags.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24. Running Stories (Conceptual)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Configure JBehave runner (JUnit or Spring) specifying story paths &amp; meta filters.</a:t>
            </a:r>
          </a:p>
          <a:p>
            <a:pPr>
              <a:defRPr sz="1300"/>
            </a:pPr>
            <a:r>
              <a:t>- Use mvn test -Dmeta.filter='+functional -smoke' style (example; adapt to actual runner config).</a:t>
            </a:r>
          </a:p>
          <a:p>
            <a:pPr>
              <a:defRPr sz="1300"/>
            </a:pPr>
            <a:r>
              <a:t>- Integrate with pipeline jobs for smoke vs full regression.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25. Traceability Matrix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Story scenario IDs (e.g., FT-rtdx-product-recipe-flow-BR004-03-ExtraPSI) map to business rule IDs (BR004) enabling trace linking.</a:t>
            </a:r>
          </a:p>
          <a:p>
            <a:pPr>
              <a:defRPr sz="1300"/>
            </a:pPr>
            <a:r>
              <a:t>- Examples table row IDs become report entries.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26. Minor Details &amp; Nuances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Use of comma-separated files/IDs inside single parameter (split within step).</a:t>
            </a:r>
          </a:p>
          <a:p>
            <a:pPr>
              <a:defRPr sz="1300"/>
            </a:pPr>
            <a:r>
              <a:t>- Differentiating staging vs final tables by status (PERSISTED triggers second insert).</a:t>
            </a:r>
          </a:p>
          <a:p>
            <a:pPr>
              <a:defRPr sz="1300"/>
            </a:pPr>
            <a:r>
              <a:t>- ThreadLocal cleared explicitly in cleanup to avoid memory retention.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26. Minor Details &amp; Nuances (cont.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Diff JSON validation uses array length + deep object equality.</a:t>
            </a:r>
          </a:p>
          <a:p>
            <a:pPr>
              <a:defRPr sz="1300"/>
            </a:pPr>
            <a:r>
              <a:t>- Special handling for unknown sellable IDs (set to "UNKNOWN" before validation).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27. Actionable Improvements (Next 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Replace static sleep with polling (max timeout) for faster suites.</a:t>
            </a:r>
          </a:p>
          <a:p>
            <a:pPr>
              <a:defRPr sz="1300"/>
            </a:pPr>
            <a:r>
              <a:t>- Add BeforeScenario hook for automatic staging cleanup / isolation.</a:t>
            </a:r>
          </a:p>
          <a:p>
            <a:pPr>
              <a:defRPr sz="1300"/>
            </a:pPr>
            <a:r>
              <a:t>- Introduce soft assertion aggregator for richer failure reports.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27. Actionable Improvements (Next Steps) (cont.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Add meta-driven dynamic timeouts (e.g., @slow).</a:t>
            </a:r>
          </a:p>
          <a:p>
            <a:pPr>
              <a:defRPr sz="1300"/>
            </a:pPr>
            <a:r>
              <a:t>- Add helper to auto-generate example rows from CSV.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28. Glossary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EventHub: Messaging system receiving ingestion events.</a:t>
            </a:r>
          </a:p>
          <a:p>
            <a:pPr>
              <a:defRPr sz="1300"/>
            </a:pPr>
            <a:r>
              <a:t>- Staging Table: Intermediate persistence for validation &amp; diff tracking.</a:t>
            </a:r>
          </a:p>
          <a:p>
            <a:pPr>
              <a:defRPr sz="1300"/>
            </a:pPr>
            <a:r>
              <a:t>- Correlation ID: Unique identifier tying events &amp; audit records.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28. Glossary (cont.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Meta Tag: Story-level label for filtering.</a:t>
            </a:r>
          </a:p>
          <a:p>
            <a:pPr>
              <a:defRPr sz="1300"/>
            </a:pPr>
            <a:r>
              <a:t>- Diff JSON: Structured difference representation for staging vs expected.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29. Quick Checklist for Adding a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1. Identify business rule / behavior.</a:t>
            </a:r>
          </a:p>
          <a:p>
            <a:pPr>
              <a:defRPr sz="1300"/>
            </a:pPr>
            <a:r>
              <a:t>2. Draft Given/When/Then in business language.</a:t>
            </a:r>
          </a:p>
          <a:p>
            <a:pPr>
              <a:defRPr sz="1300"/>
            </a:pPr>
            <a:r>
              <a:t>3. Define required parameters &amp; columns.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29. Quick Checklist for Adding a Scenario (cont.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4. Add row(s) to Examples ensuring data variety.</a:t>
            </a:r>
          </a:p>
          <a:p>
            <a:pPr>
              <a:defRPr sz="1300"/>
            </a:pPr>
            <a:r>
              <a:t>5. Confirm step definitions match pattern.</a:t>
            </a:r>
          </a:p>
          <a:p>
            <a:pPr>
              <a:defRPr sz="1300"/>
            </a:pPr>
            <a:r>
              <a:t>6. Add validation &amp; cleanup steps.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29. Quick Checklist for Adding a Scenario (cont.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7. Tag with appropriate Meta (e.g., @testType functional).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30. References &amp; 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JBehave Docs: https://jbehave.org/</a:t>
            </a:r>
          </a:p>
          <a:p>
            <a:pPr>
              <a:defRPr sz="1300"/>
            </a:pPr>
            <a:r>
              <a:t>- BDD Intro: https://cucumber.io/docs/bdd/ (conceptual overlap)</a:t>
            </a:r>
          </a:p>
          <a:p>
            <a:pPr>
              <a:defRPr sz="1300"/>
            </a:pPr>
            <a:r>
              <a:t>- Project paths: src/test/resources/stories/, .../steps/ProductJbehaveSteps.java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31. Appendix: Code Snippets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Parameter binding:</a:t>
            </a:r>
          </a:p>
          <a:p>
            <a:pPr>
              <a:defRPr sz="900"/>
            </a:pPr>
            <a:r>
              <a:t>Code:</a:t>
            </a:r>
            <a:br/>
            <a:r>
              <a:t>@Then("validate read service $expectedResponseCode after ingestion")</a:t>
            </a:r>
            <a:br/>
            <a:r>
              <a:t>public void validateReadServices(@Named("expectedResponseCode") String expectedResponseCode) { /* implementation omitted */ }</a:t>
            </a:r>
          </a:p>
          <a:p>
            <a:pPr>
              <a:defRPr sz="1300"/>
            </a:pPr>
            <a:r>
              <a:t>Staging diff validation: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31. Appendix: Code Snippets (cont.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900"/>
            </a:pPr>
            <a:r>
              <a:t>Code:</a:t>
            </a:r>
            <a:br/>
            <a:r>
              <a:t>private void validateDiffJson(String expectedFileName, String actualDiffJson) { /* compare arrays */ }</a:t>
            </a:r>
          </a:p>
          <a:p>
            <a:pPr>
              <a:defRPr sz="1300"/>
            </a:pPr>
            <a:r>
              <a:t>Cleanup:</a:t>
            </a:r>
          </a:p>
          <a:p>
            <a:pPr>
              <a:defRPr sz="900"/>
            </a:pPr>
            <a:r>
              <a:t>Code:</a:t>
            </a:r>
            <a:br/>
            <a:r>
              <a:t>@AfterStories</a:t>
            </a:r>
            <a:br/>
            <a:r>
              <a:t>public void cleanupResource() { /* delete consumer groups */ }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32. Story Anatomy: BPC Ingestion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Extract from RT-rtdx-product-bpc-ingestion.story:</a:t>
            </a:r>
          </a:p>
          <a:p>
            <a:pPr>
              <a:defRPr sz="900"/>
            </a:pPr>
            <a:r>
              <a:t>Code:</a:t>
            </a:r>
            <a:br/>
            <a:r>
              <a:t>Scenario: Check bpc ingestion is inserting valid event data into sbux_bpc look-up table and invalid data into consumption_staging table</a:t>
            </a:r>
            <a:br/>
            <a:r>
              <a:t>Meta: @testType component regression</a:t>
            </a:r>
            <a:br/>
            <a:r>
              <a:t>Given Dependency publish &lt;dependencyEventType&gt; event using &lt;pdxFile&gt; file and publish &lt;eventType&gt; event to EH using file &lt;bpcFile&gt; with &lt;countryCodes&gt;</a:t>
            </a:r>
            <a:br/>
            <a:r>
              <a:t>Then wait for the processing for &lt;delay&gt; seconds</a:t>
            </a:r>
            <a:br/>
            <a:r>
              <a:t>Then validate &lt;eventType&gt; record in lookUp table using &lt;expectedLookUpRecords&gt; file</a:t>
            </a:r>
            <a:br/>
            <a:r>
              <a:t>Then verify ingestion event with &lt;logStatus&gt;</a:t>
            </a:r>
            <a:br/>
            <a:r>
              <a:t>Then delete the &lt;eventType&gt; data inserted in the staging table</a:t>
            </a:r>
            <a:br/>
            <a:r>
              <a:t>Then cleanup the &lt;eventType&gt; story data using file &lt;expectedLookUpRecords&gt;</a:t>
            </a:r>
            <a:br/>
            <a:r>
              <a:t>And cleanup the &lt;eventType&gt; staging data</a:t>
            </a:r>
          </a:p>
          <a:p>
            <a:pPr>
              <a:defRPr sz="1300"/>
            </a:pPr>
            <a:r>
              <a:t>Highlights: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32. Story Anatomy: BPC Ingestion Example (cont.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Mixed Given with dependency + main publish sequence.</a:t>
            </a:r>
          </a:p>
          <a:p>
            <a:pPr>
              <a:defRPr sz="1300"/>
            </a:pPr>
            <a:r>
              <a:t>- Explicit wait step parameterized (&lt;delay&gt; seconds) – candidate for polling enhancement.</a:t>
            </a:r>
          </a:p>
          <a:p>
            <a:pPr>
              <a:defRPr sz="1300"/>
            </a:pPr>
            <a:r>
              <a:t>- Multiple cleanup &amp; validation Thens (sequential outcomes vs single Then + And).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32. Story Anatomy: BPC Ingestion Example (cont.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Meta combines multiple tags (@testType component regression) enabling dual classification.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33. Advanced Meta Filtering &amp; CI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Sample Maven invocations (adjust to actual runner config):</a:t>
            </a:r>
          </a:p>
          <a:p>
            <a:pPr>
              <a:defRPr sz="900"/>
            </a:pPr>
            <a:r>
              <a:t>Code:</a:t>
            </a:r>
            <a:br/>
            <a:r>
              <a:t># Only component tests</a:t>
            </a:r>
            <a:br/>
            <a:r>
              <a:t>mvn test -Dmeta.filter="+testType component"</a:t>
            </a:r>
            <a:br/>
            <a:r>
              <a:t># Smoke OR component</a:t>
            </a:r>
            <a:br/>
            <a:r>
              <a:t>mvn test -Dmeta.filter="+testType smoke,+testType component"</a:t>
            </a:r>
            <a:br/>
            <a:r>
              <a:t># Exclude regression</a:t>
            </a:r>
            <a:br/>
            <a:r>
              <a:t>mvn test -Dmeta.filter="-testType regression"</a:t>
            </a:r>
            <a:br/>
            <a:r>
              <a:t># High-priority functional tests</a:t>
            </a:r>
            <a:br/>
            <a:r>
              <a:t>mvn test -Dmeta.filter="+testType functional +priority high"</a:t>
            </a:r>
          </a:p>
          <a:p>
            <a:pPr>
              <a:defRPr sz="1300"/>
            </a:pPr>
            <a:r>
              <a:t>Recommendations: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33. Advanced Meta Filtering &amp; CI Usage (cont.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300"/>
            </a:pPr>
            <a:r>
              <a:t>- Add @priority and @risk meta to enable risk-based subsets.</a:t>
            </a:r>
          </a:p>
          <a:p>
            <a:pPr>
              <a:defRPr sz="1300"/>
            </a:pPr>
            <a:r>
              <a:t>- Introduce @duration fast|medium|slow to allow time-boxed runs.</a:t>
            </a:r>
          </a:p>
          <a:p>
            <a:pPr>
              <a:defRPr sz="1300"/>
            </a:pPr>
            <a:r>
              <a:t>- Enforce a linter that flags scenarios missing @testType.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a52584d-ac98-46b5-b716-447f86f3ab44}" enabled="1" method="Standard" siteId="{ee69be27-d938-4eb5-8711-c5e69ca437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3389</Words>
  <Application>Microsoft Macintosh PowerPoint</Application>
  <PresentationFormat>On-screen Show (4:3)</PresentationFormat>
  <Paragraphs>327</Paragraphs>
  <Slides>65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9" baseType="lpstr">
      <vt:lpstr>Aptos</vt:lpstr>
      <vt:lpstr>Arial</vt:lpstr>
      <vt:lpstr>Calibri</vt:lpstr>
      <vt:lpstr>Office Theme</vt:lpstr>
      <vt:lpstr>Summary</vt:lpstr>
      <vt:lpstr>1. What is JBehave?</vt:lpstr>
      <vt:lpstr>1. What is JBehave? (cont. 2)</vt:lpstr>
      <vt:lpstr>2. Core Concepts</vt:lpstr>
      <vt:lpstr>2. Core Concepts (cont. 2)</vt:lpstr>
      <vt:lpstr>3. Story File Anatomy (From FT-recipe-service.story)</vt:lpstr>
      <vt:lpstr>4. Parameterization Mechanics</vt:lpstr>
      <vt:lpstr>4. Parameterization Mechanics (cont. 2)</vt:lpstr>
      <vt:lpstr>5. Pattern Styles &amp; Step Definitions</vt:lpstr>
      <vt:lpstr>5. Pattern Styles &amp; Step Definitions (cont. 2)</vt:lpstr>
      <vt:lpstr>5. Pattern Styles &amp; Step Definitions (cont. 3)</vt:lpstr>
      <vt:lpstr>5. Pattern Styles &amp; Step Definitions (cont. 4)</vt:lpstr>
      <vt:lpstr>6. Test Types and Decision Guide</vt:lpstr>
      <vt:lpstr>6. Test Types and Decision Guide (cont. 2)</vt:lpstr>
      <vt:lpstr>6. Test Types and Decision Guide (cont. 3)</vt:lpstr>
      <vt:lpstr>6. Test Types and Decision Guide (cont. 4)</vt:lpstr>
      <vt:lpstr>6. Test Types and Decision Guide (cont. 5)</vt:lpstr>
      <vt:lpstr>6. Test Types and Decision Guide (cont. 6)</vt:lpstr>
      <vt:lpstr>6. Test Types and Decision Guide (cont. 7)</vt:lpstr>
      <vt:lpstr>7. Test Types Overview (Meta Tag Strategy)</vt:lpstr>
      <vt:lpstr>7. Test Types Overview (Meta Tag Strategy) (cont. 2)</vt:lpstr>
      <vt:lpstr>7. Test Types Overview (Meta Tag Strategy) (cont. 3)</vt:lpstr>
      <vt:lpstr>7. Test Types Overview (Meta Tag Strategy) (cont. 4)</vt:lpstr>
      <vt:lpstr>8. Decision Guide &amp; Examples (concise)</vt:lpstr>
      <vt:lpstr>8. Decision Guide &amp; Examples (concise) (cont. 2)</vt:lpstr>
      <vt:lpstr>9. Test Data Strategy</vt:lpstr>
      <vt:lpstr>9. Test Data Strategy (cont. 2)</vt:lpstr>
      <vt:lpstr>10. Publishing &amp; Event Flow</vt:lpstr>
      <vt:lpstr>10. Publishing &amp; Event Flow (cont. 2)</vt:lpstr>
      <vt:lpstr>11. Staging Record Handling</vt:lpstr>
      <vt:lpstr>12. Validation Patterns</vt:lpstr>
      <vt:lpstr>12. Validation Patterns (cont. 2)</vt:lpstr>
      <vt:lpstr>13. Example: Response Validation Step</vt:lpstr>
      <vt:lpstr>14. Cleanup Strategy</vt:lpstr>
      <vt:lpstr>15. Meta Tags &amp; Filtering</vt:lpstr>
      <vt:lpstr>16. Handling Optional / NA Values</vt:lpstr>
      <vt:lpstr>17. Error Handling &amp; Assertions</vt:lpstr>
      <vt:lpstr>18. Data Modeling</vt:lpstr>
      <vt:lpstr>19. Reusable Utilities</vt:lpstr>
      <vt:lpstr>20. Performance Considerations</vt:lpstr>
      <vt:lpstr>21. Best Practices Summary</vt:lpstr>
      <vt:lpstr>21. Best Practices Summary (cont. 2)</vt:lpstr>
      <vt:lpstr>22. Common Pitfalls</vt:lpstr>
      <vt:lpstr>22. Common Pitfalls (cont. 2)</vt:lpstr>
      <vt:lpstr>23. Extending the Suite</vt:lpstr>
      <vt:lpstr>23. Extending the Suite (cont. 2)</vt:lpstr>
      <vt:lpstr>24. Running Stories (Conceptual)</vt:lpstr>
      <vt:lpstr>25. Traceability Matrix (Illustrative)</vt:lpstr>
      <vt:lpstr>26. Minor Details &amp; Nuances</vt:lpstr>
      <vt:lpstr>26. Minor Details &amp; Nuances (cont. 2)</vt:lpstr>
      <vt:lpstr>27. Actionable Improvements (Next Steps)</vt:lpstr>
      <vt:lpstr>27. Actionable Improvements (Next Steps) (cont. 2)</vt:lpstr>
      <vt:lpstr>28. Glossary</vt:lpstr>
      <vt:lpstr>28. Glossary (cont. 2)</vt:lpstr>
      <vt:lpstr>29. Quick Checklist for Adding a Scenario</vt:lpstr>
      <vt:lpstr>29. Quick Checklist for Adding a Scenario (cont. 2)</vt:lpstr>
      <vt:lpstr>29. Quick Checklist for Adding a Scenario (cont. 3)</vt:lpstr>
      <vt:lpstr>30. References &amp; Further Reading</vt:lpstr>
      <vt:lpstr>31. Appendix: Code Snippets</vt:lpstr>
      <vt:lpstr>31. Appendix: Code Snippets (cont. 2)</vt:lpstr>
      <vt:lpstr>32. Story Anatomy: BPC Ingestion Example</vt:lpstr>
      <vt:lpstr>32. Story Anatomy: BPC Ingestion Example (cont. 2)</vt:lpstr>
      <vt:lpstr>32. Story Anatomy: BPC Ingestion Example (cont. 3)</vt:lpstr>
      <vt:lpstr>33. Advanced Meta Filtering &amp; CI Usage</vt:lpstr>
      <vt:lpstr>33. Advanced Meta Filtering &amp; CI Usage (cont. 2)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Nitin Chaurasia (PSP)</cp:lastModifiedBy>
  <cp:revision>2</cp:revision>
  <dcterms:created xsi:type="dcterms:W3CDTF">2013-01-27T09:14:16Z</dcterms:created>
  <dcterms:modified xsi:type="dcterms:W3CDTF">2025-11-01T15:20:10Z</dcterms:modified>
  <cp:category/>
</cp:coreProperties>
</file>