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4" Type="http://schemas.openxmlformats.org/officeDocument/2006/relationships/slide" Target="slides/slide33.xml" /><Relationship Id="rId35" Type="http://schemas.openxmlformats.org/officeDocument/2006/relationships/slide" Target="slides/slide34.xml" /><Relationship Id="rId36" Type="http://schemas.openxmlformats.org/officeDocument/2006/relationships/slide" Target="slides/slide35.xml" /><Relationship Id="rId37" Type="http://schemas.openxmlformats.org/officeDocument/2006/relationships/slide" Target="slides/slide36.xml" /><Relationship Id="rId38" Type="http://schemas.openxmlformats.org/officeDocument/2006/relationships/slide" Target="slides/slide37.xml" /><Relationship Id="rId39" Type="http://schemas.openxmlformats.org/officeDocument/2006/relationships/slide" Target="slides/slide38.xml" /><Relationship Id="rId40" Type="http://schemas.openxmlformats.org/officeDocument/2006/relationships/slide" Target="slides/slide39.xml" /><Relationship Id="rId41" Type="http://schemas.openxmlformats.org/officeDocument/2006/relationships/slide" Target="slides/slide40.xml" /><Relationship Id="rId43" Type="http://schemas.openxmlformats.org/officeDocument/2006/relationships/viewProps" Target="viewProps.xml" /><Relationship Id="rId42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45" Type="http://schemas.openxmlformats.org/officeDocument/2006/relationships/tableStyles" Target="tableStyles.xml" /><Relationship Id="rId44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JBehave Basics &amp; Applied Overview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JBehave Basics &amp; Applied Overview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BDD (Behavior-Driven Development): write executable specifications in human-readable form (Gherkin/JBehave stories) that map directly to automated step code.</a:t>
            </a:r>
          </a:p>
          <a:p>
            <a:pPr lvl="0"/>
            <a:r>
              <a:rPr/>
              <a:t>Goals: improve collaboration across product/QA/engineering, provide living documentation, and enable clear acceptance criteria.</a:t>
            </a:r>
          </a:p>
          <a:p>
            <a:pPr lvl="0"/>
            <a:r>
              <a:rPr/>
              <a:t>When to use BDD: for business-facing behavior, acceptance criteria, or complex workflows that benefit from readable specs and stakeholder buy-in.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1. What is JBehave?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Behavior-Driven Development (BDD) framework for Java. Defines executable specifications using human-readable stories (plain text). Maps natural language steps (Given/When/Then) to Java methods via annotations. Facilitates collaboration between product, QA, and engineering.</a:t>
            </a:r>
          </a:p>
          <a:p>
            <a:pPr lvl="0" indent="0" marL="0">
              <a:buNone/>
            </a:pPr>
            <a:r>
              <a:rPr/>
              <a:t>Notes: - Emphasize shared language and traceability from requirements to automated tests.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2. Core Concepts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Story: A text file (“*.story”) containing narrative + scenarios.</a:t>
            </a:r>
          </a:p>
          <a:p>
            <a:pPr lvl="0"/>
            <a:r>
              <a:rPr/>
              <a:t>Scenario: A concrete example describing behavior.</a:t>
            </a:r>
          </a:p>
          <a:p>
            <a:pPr lvl="0"/>
            <a:r>
              <a:rPr/>
              <a:t>Steps: Given (context), When (action), Then (outcome/assertions).</a:t>
            </a:r>
          </a:p>
          <a:p>
            <a:pPr lvl="0"/>
            <a:r>
              <a:rPr/>
              <a:t>Examples Table: Data-driven scenario parameters.</a:t>
            </a:r>
          </a:p>
          <a:p>
            <a:pPr lvl="0"/>
            <a:r>
              <a:rPr/>
              <a:t>Meta: Tags/metadata controlling filtering/grouping (e.g., @testType functional).</a:t>
            </a:r>
          </a:p>
          <a:p>
            <a:pPr lvl="0"/>
            <a:r>
              <a:rPr/>
              <a:t>Lifecycle: Hooks (BeforeStories/AfterStories/BeforeScenario/AfterScenario) for setup/teardown.</a:t>
            </a:r>
          </a:p>
          <a:p>
            <a:pPr lvl="0" indent="0" marL="0">
              <a:buNone/>
            </a:pPr>
            <a:r>
              <a:rPr/>
              <a:t>Notes: - In our repo, stories are under </a:t>
            </a:r>
            <a:r>
              <a:rPr>
                <a:latin typeface="Courier"/>
              </a:rPr>
              <a:t>rtdx-functional-test/src/test/resources/stories/</a:t>
            </a:r>
            <a:r>
              <a:rPr/>
              <a:t>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3. Story File Anatomy (From FT-recipe-service.story)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Meta:
@component rtdx-product-flow
Narrative:rtdx-product-recipe-service-flow functional test
Scenario: (1) opc create smoke
Meta: @testType functional smoke
Given initialize the test with &lt;lineItemSku&gt; &lt;lineItemQty&gt; &lt;childLineItemSkus&gt; and &lt;childLineItemQtysPerLineItem&gt;
When invoke opc endpoint with &lt;country&gt;
Then validate the response with &lt;responseFile&gt;
Examples:
|testcaseid |country |lineItemSku |lineItemQty |childLineItemSkus |childLineItemQtysPerLineItem |responseFile
|FT-rtdx-product-recipe-01-01 |ca |11168754 |1 |NA |NA |response/opcNonBeverage_20.json</a:t>
            </a:r>
          </a:p>
          <a:p>
            <a:pPr lvl="0" indent="0" marL="0">
              <a:buNone/>
            </a:pPr>
            <a:r>
              <a:rPr/>
              <a:t>Key elements: Meta tags, Scenario title, Steps with angle-bracket parameters, Examples table for data rows.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4. Parameterization Mechanics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Angle bracket placeholders () replaced per Examples row.</a:t>
            </a:r>
          </a:p>
          <a:p>
            <a:pPr lvl="0"/>
            <a:r>
              <a:rPr/>
              <a:t>Column headers must match placeholders exactly (case-sensitive).</a:t>
            </a:r>
          </a:p>
          <a:p>
            <a:pPr lvl="0"/>
            <a:r>
              <a:rPr/>
              <a:t>Each row = one executed scenario iteration.</a:t>
            </a:r>
          </a:p>
          <a:p>
            <a:pPr lvl="0"/>
            <a:r>
              <a:rPr/>
              <a:t>Special values like “NA” used to skip optional logic paths.</a:t>
            </a:r>
          </a:p>
          <a:p>
            <a:pPr lvl="0" indent="0" marL="0">
              <a:buNone/>
            </a:pPr>
            <a:r>
              <a:rPr/>
              <a:t>Notes: - Consistent naming improves maintainability.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5. Pattern Styles &amp; Step Definitions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Pattern styles used in project:</a:t>
            </a:r>
          </a:p>
          <a:p>
            <a:pPr lvl="1" indent="-342900" marL="685800">
              <a:buAutoNum type="arabicPeriod"/>
            </a:pPr>
            <a:r>
              <a:rPr/>
              <a:t>Direct variable substitution: </a:t>
            </a:r>
            <a:r>
              <a:rPr>
                <a:latin typeface="Courier"/>
              </a:rPr>
              <a:t>publish $eventType event...</a:t>
            </a:r>
          </a:p>
          <a:p>
            <a:pPr lvl="1" indent="-342900" marL="685800">
              <a:buAutoNum type="arabicPeriod"/>
            </a:pPr>
            <a:r>
              <a:rPr/>
              <a:t>Mixed text &amp; params: </a:t>
            </a:r>
            <a:r>
              <a:rPr>
                <a:latin typeface="Courier"/>
              </a:rPr>
              <a:t>staging records from $stagingInputFile ...</a:t>
            </a:r>
          </a:p>
          <a:p>
            <a:pPr lvl="1" indent="-342900" marL="685800">
              <a:buAutoNum type="arabicPeriod"/>
            </a:pPr>
            <a:r>
              <a:rPr/>
              <a:t>No explicit @Named when positional mapping suffices (rare; we use @Named for clarity).</a:t>
            </a:r>
          </a:p>
          <a:p>
            <a:pPr lvl="0"/>
            <a:r>
              <a:rPr/>
              <a:t>Use commas in parameters to handle multi-file inputs (split logic internally).</a:t>
            </a:r>
          </a:p>
          <a:p>
            <a:pPr lvl="0" indent="0" marL="0">
              <a:buNone/>
            </a:pPr>
            <a:r>
              <a:rPr/>
              <a:t>Annotations: </a:t>
            </a:r>
            <a:r>
              <a:rPr>
                <a:latin typeface="Courier"/>
              </a:rPr>
              <a:t>@Given</a:t>
            </a:r>
            <a:r>
              <a:rPr/>
              <a:t>, </a:t>
            </a:r>
            <a:r>
              <a:rPr>
                <a:latin typeface="Courier"/>
              </a:rPr>
              <a:t>@When</a:t>
            </a:r>
            <a:r>
              <a:rPr/>
              <a:t>, </a:t>
            </a:r>
            <a:r>
              <a:rPr>
                <a:latin typeface="Courier"/>
              </a:rPr>
              <a:t>@Then</a:t>
            </a:r>
            <a:r>
              <a:rPr/>
              <a:t> (plus </a:t>
            </a:r>
            <a:r>
              <a:rPr>
                <a:latin typeface="Courier"/>
              </a:rPr>
              <a:t>@AfterStories</a:t>
            </a:r>
            <a:r>
              <a:rPr/>
              <a:t>). Pattern matching of the textual step to method signature. </a:t>
            </a:r>
            <a:r>
              <a:rPr>
                <a:latin typeface="Courier"/>
              </a:rPr>
              <a:t>@Named("param")</a:t>
            </a:r>
            <a:r>
              <a:rPr/>
              <a:t> binds example table value to method parameter. Supports multiple annotated methods with similar prefixes (overloads by pattern).</a:t>
            </a:r>
          </a:p>
          <a:p>
            <a:pPr lvl="0" indent="0" marL="0">
              <a:buNone/>
            </a:pPr>
            <a:r>
              <a:rPr/>
              <a:t>Example:</a:t>
            </a:r>
          </a:p>
          <a:p>
            <a:pPr lvl="0" indent="0">
              <a:buNone/>
            </a:pPr>
            <a:r>
              <a:rPr>
                <a:solidFill>
                  <a:srgbClr val="204A87"/>
                </a:solidFill>
                <a:latin typeface="Courier"/>
              </a:rPr>
              <a:t>@Given</a:t>
            </a:r>
            <a:r>
              <a:rPr b="1">
                <a:solidFill>
                  <a:srgbClr val="CE5C00"/>
                </a:solidFill>
                <a:latin typeface="Courier"/>
              </a:rPr>
              <a:t>(</a:t>
            </a:r>
            <a:r>
              <a:rPr>
                <a:solidFill>
                  <a:srgbClr val="4E9A06"/>
                </a:solidFill>
                <a:latin typeface="Courier"/>
              </a:rPr>
              <a:t>"publish $eventType event to EH using file $xmlfile with $countryCode"</a:t>
            </a:r>
            <a:r>
              <a:rPr b="1">
                <a:solidFill>
                  <a:srgbClr val="CE5C00"/>
                </a:solidFill>
                <a:latin typeface="Courier"/>
              </a:rPr>
              <a:t>)</a:t>
            </a:r>
            <a:br/>
            <a:r>
              <a:rPr b="1">
                <a:solidFill>
                  <a:srgbClr val="204A87"/>
                </a:solidFill>
                <a:latin typeface="Courier"/>
              </a:rPr>
              <a:t>public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204A87"/>
                </a:solidFill>
                <a:latin typeface="Courier"/>
              </a:rPr>
              <a:t>void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204A87"/>
                </a:solidFill>
                <a:latin typeface="Courier"/>
              </a:rPr>
              <a:t>setTestDataAndPublishEventPayload</a:t>
            </a:r>
            <a:r>
              <a:rPr b="1">
                <a:solidFill>
                  <a:srgbClr val="CE5C00"/>
                </a:solidFill>
                <a:latin typeface="Courier"/>
              </a:rPr>
              <a:t>(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204A87"/>
                </a:solidFill>
                <a:latin typeface="Courier"/>
              </a:rPr>
              <a:t>@Named</a:t>
            </a:r>
            <a:r>
              <a:rPr b="1">
                <a:solidFill>
                  <a:srgbClr val="CE5C00"/>
                </a:solidFill>
                <a:latin typeface="Courier"/>
              </a:rPr>
              <a:t>(</a:t>
            </a:r>
            <a:r>
              <a:rPr>
                <a:solidFill>
                  <a:srgbClr val="4E9A06"/>
                </a:solidFill>
                <a:latin typeface="Courier"/>
              </a:rPr>
              <a:t>"eventType"</a:t>
            </a:r>
            <a:r>
              <a:rPr b="1">
                <a:solidFill>
                  <a:srgbClr val="CE5C00"/>
                </a:solidFill>
                <a:latin typeface="Courier"/>
              </a:rPr>
              <a:t>)</a:t>
            </a:r>
            <a:r>
              <a:rPr>
                <a:latin typeface="Courier"/>
              </a:rPr>
              <a:t> String eventType</a:t>
            </a:r>
            <a:r>
              <a:rPr b="1">
                <a:solidFill>
                  <a:srgbClr val="CE5C00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204A87"/>
                </a:solidFill>
                <a:latin typeface="Courier"/>
              </a:rPr>
              <a:t>@Named</a:t>
            </a:r>
            <a:r>
              <a:rPr b="1">
                <a:solidFill>
                  <a:srgbClr val="CE5C00"/>
                </a:solidFill>
                <a:latin typeface="Courier"/>
              </a:rPr>
              <a:t>(</a:t>
            </a:r>
            <a:r>
              <a:rPr>
                <a:solidFill>
                  <a:srgbClr val="4E9A06"/>
                </a:solidFill>
                <a:latin typeface="Courier"/>
              </a:rPr>
              <a:t>"xmlfile"</a:t>
            </a:r>
            <a:r>
              <a:rPr b="1">
                <a:solidFill>
                  <a:srgbClr val="CE5C00"/>
                </a:solidFill>
                <a:latin typeface="Courier"/>
              </a:rPr>
              <a:t>)</a:t>
            </a:r>
            <a:r>
              <a:rPr>
                <a:latin typeface="Courier"/>
              </a:rPr>
              <a:t> String xmlFile</a:t>
            </a:r>
            <a:r>
              <a:rPr b="1">
                <a:solidFill>
                  <a:srgbClr val="CE5C00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204A87"/>
                </a:solidFill>
                <a:latin typeface="Courier"/>
              </a:rPr>
              <a:t>@Named</a:t>
            </a:r>
            <a:r>
              <a:rPr b="1">
                <a:solidFill>
                  <a:srgbClr val="CE5C00"/>
                </a:solidFill>
                <a:latin typeface="Courier"/>
              </a:rPr>
              <a:t>(</a:t>
            </a:r>
            <a:r>
              <a:rPr>
                <a:solidFill>
                  <a:srgbClr val="4E9A06"/>
                </a:solidFill>
                <a:latin typeface="Courier"/>
              </a:rPr>
              <a:t>"countryCode"</a:t>
            </a:r>
            <a:r>
              <a:rPr b="1">
                <a:solidFill>
                  <a:srgbClr val="CE5C00"/>
                </a:solidFill>
                <a:latin typeface="Courier"/>
              </a:rPr>
              <a:t>)</a:t>
            </a:r>
            <a:r>
              <a:rPr>
                <a:latin typeface="Courier"/>
              </a:rPr>
              <a:t> String countryCode</a:t>
            </a:r>
            <a:r>
              <a:rPr b="1">
                <a:solidFill>
                  <a:srgbClr val="CE5C00"/>
                </a:solidFill>
                <a:latin typeface="Courier"/>
              </a:rPr>
              <a:t>)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CE5C00"/>
                </a:solidFill>
                <a:latin typeface="Courier"/>
              </a:rPr>
              <a:t>{</a:t>
            </a:r>
            <a:r>
              <a:rPr>
                <a:latin typeface="Courier"/>
              </a:rPr>
              <a:t> </a:t>
            </a:r>
            <a:r>
              <a:rPr i="1">
                <a:solidFill>
                  <a:srgbClr val="8F5902"/>
                </a:solidFill>
                <a:latin typeface="Courier"/>
              </a:rPr>
              <a:t>/* implementation omitted */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CE5C00"/>
                </a:solidFill>
                <a:latin typeface="Courier"/>
              </a:rPr>
              <a:t>}</a:t>
            </a:r>
          </a:p>
          <a:p>
            <a:pPr lvl="0" indent="0" marL="0">
              <a:buNone/>
            </a:pPr>
            <a:r>
              <a:rPr/>
              <a:t>Notes: - Keep patterns stable; changing them breaks story-to-code binding.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6. Test Types and Decision Guide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Component: fast, isolated tests for a single service/module (mock external dependencies). Good for developer feedback.</a:t>
            </a:r>
          </a:p>
          <a:p>
            <a:pPr lvl="0"/>
            <a:r>
              <a:rPr/>
              <a:t>Integration: tests across multiple components or services (real or containerized dependencies). Good for validating interactions.</a:t>
            </a:r>
          </a:p>
          <a:p>
            <a:pPr lvl="0"/>
            <a:r>
              <a:rPr/>
              <a:t>Functional / E2E: end-to-end business flow validation in a full stack environment. Good for acceptance testing.</a:t>
            </a:r>
          </a:p>
          <a:p>
            <a:pPr lvl="0"/>
            <a:r>
              <a:rPr/>
              <a:t>Regression: broad suites verifying previously working features remain stable after changes. Run before major releases.</a:t>
            </a:r>
          </a:p>
          <a:p>
            <a:pPr lvl="0"/>
            <a:r>
              <a:rPr/>
              <a:t>Smoke: small, fast checks of critical paths after deployment.</a:t>
            </a:r>
          </a:p>
          <a:p>
            <a:pPr lvl="0" indent="0" marL="0">
              <a:buNone/>
            </a:pPr>
            <a:r>
              <a:rPr/>
              <a:t>Quick checklist to pick a test type: - Scope = single class / service -&gt; Component - Scope = couple services / DB interactions -&gt; Integration - Scope = full user/business flow -&gt; Functional / E2E - Need very fast feedback -&gt; Component/Smoke - Need long-term replay/validation -&gt; Regression</a:t>
            </a:r>
          </a:p>
          <a:p>
            <a:pPr lvl="0" indent="0" marL="0">
              <a:buNone/>
            </a:pPr>
            <a:r>
              <a:rPr/>
              <a:t>Decision flow (short): 1. Who cares about the result? (Dev -&gt; Component; Product/QA -&gt; Functional) 2. Does the scenario require external systems? (Yes -&gt; Integration; No -&gt; Component) 3. Is it a critical path for production? (Yes -&gt; include in Smoke/Regression)</a:t>
            </a:r>
          </a:p>
          <a:p>
            <a:pPr lvl="0" indent="0" marL="0">
              <a:buNone/>
            </a:pPr>
            <a:r>
              <a:rPr/>
              <a:t>Guidance: - Align frequency with the test pyramid: many component, fewer integration, fewest functional/regression. - Use </a:t>
            </a:r>
            <a:r>
              <a:rPr>
                <a:latin typeface="Courier"/>
              </a:rPr>
              <a:t>@testType</a:t>
            </a:r>
            <a:r>
              <a:rPr/>
              <a:t> meta tags so CI can select appropriate subsets. - If you want further granularity, add </a:t>
            </a:r>
            <a:r>
              <a:rPr>
                <a:latin typeface="Courier"/>
              </a:rPr>
              <a:t>@priority</a:t>
            </a:r>
            <a:r>
              <a:rPr/>
              <a:t> and </a:t>
            </a:r>
            <a:r>
              <a:rPr>
                <a:latin typeface="Courier"/>
              </a:rPr>
              <a:t>@duration</a:t>
            </a:r>
            <a:r>
              <a:rPr/>
              <a:t> meta tags.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7. Test Types Overview (Meta Tag Strategy)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Categories used (from executive summary): - component: isolated service or module verification. - integration: multi-service / external system interaction. - functional: business rule &amp; user-facing behavior. - regression: broad re-run for stability assurance. - smoke: rapid critical-path health check.</a:t>
            </a:r>
          </a:p>
          <a:p>
            <a:pPr lvl="0" indent="0" marL="0">
              <a:buNone/>
            </a:pPr>
            <a:r>
              <a:rPr/>
              <a:t>Guidelines: - Prefer single primary @testType; add secondary only when justified (e.g., component regression for a critical component scenario included in regression pack). - Align execution frequency with pyramid (many component, few functional/regression). - Maintain a taxonomy doc; avoid tag proliferation (keeps filtering predictable).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8. Decision Guide &amp; Examples (concise)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Example Gherkin (concise):</a:t>
            </a:r>
          </a:p>
          <a:p>
            <a:pPr lvl="0" indent="0">
              <a:buNone/>
            </a:pPr>
            <a:r>
              <a:rPr>
                <a:latin typeface="Courier"/>
              </a:rPr>
              <a:t>Feature: Create product recipe
  Scenario: Product manager creates beverage
    Given I am logged in as product manager
    When I create a beverage with ingredients
    Then the recipe should be available for baristas</a:t>
            </a:r>
          </a:p>
          <a:p>
            <a:pPr lvl="0" indent="0" marL="0">
              <a:buNone/>
            </a:pPr>
            <a:r>
              <a:rPr/>
              <a:t>Java step mapping (example):</a:t>
            </a:r>
          </a:p>
          <a:p>
            <a:pPr lvl="0" indent="0">
              <a:buNone/>
            </a:pPr>
            <a:r>
              <a:rPr>
                <a:solidFill>
                  <a:srgbClr val="204A87"/>
                </a:solidFill>
                <a:latin typeface="Courier"/>
              </a:rPr>
              <a:t>@Given</a:t>
            </a:r>
            <a:r>
              <a:rPr b="1">
                <a:solidFill>
                  <a:srgbClr val="CE5C00"/>
                </a:solidFill>
                <a:latin typeface="Courier"/>
              </a:rPr>
              <a:t>(</a:t>
            </a:r>
            <a:r>
              <a:rPr>
                <a:solidFill>
                  <a:srgbClr val="4E9A06"/>
                </a:solidFill>
                <a:latin typeface="Courier"/>
              </a:rPr>
              <a:t>"I am logged in as product manager"</a:t>
            </a:r>
            <a:r>
              <a:rPr b="1">
                <a:solidFill>
                  <a:srgbClr val="CE5C00"/>
                </a:solidFill>
                <a:latin typeface="Courier"/>
              </a:rPr>
              <a:t>)</a:t>
            </a:r>
            <a:br/>
            <a:r>
              <a:rPr b="1">
                <a:solidFill>
                  <a:srgbClr val="204A87"/>
                </a:solidFill>
                <a:latin typeface="Courier"/>
              </a:rPr>
              <a:t>public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204A87"/>
                </a:solidFill>
                <a:latin typeface="Courier"/>
              </a:rPr>
              <a:t>void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204A87"/>
                </a:solidFill>
                <a:latin typeface="Courier"/>
              </a:rPr>
              <a:t>loginAsProductManager</a:t>
            </a:r>
            <a:r>
              <a:rPr b="1">
                <a:solidFill>
                  <a:srgbClr val="CE5C00"/>
                </a:solidFill>
                <a:latin typeface="Courier"/>
              </a:rPr>
              <a:t>()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CE5C00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</a:t>
            </a:r>
            <a:r>
              <a:rPr i="1">
                <a:solidFill>
                  <a:srgbClr val="8F5902"/>
                </a:solidFill>
                <a:latin typeface="Courier"/>
              </a:rPr>
              <a:t>// setup user/session for scenario</a:t>
            </a:r>
            <a:br/>
            <a:r>
              <a:rPr b="1">
                <a:solidFill>
                  <a:srgbClr val="CE5C00"/>
                </a:solidFill>
                <a:latin typeface="Courier"/>
              </a:rPr>
              <a:t>}</a:t>
            </a:r>
          </a:p>
          <a:p>
            <a:pPr lvl="0" indent="0" marL="0">
              <a:buNone/>
            </a:pPr>
            <a:r>
              <a:rPr/>
              <a:t>Notes: - Tag with </a:t>
            </a:r>
            <a:r>
              <a:rPr>
                <a:latin typeface="Courier"/>
              </a:rPr>
              <a:t>@testType</a:t>
            </a:r>
            <a:r>
              <a:rPr/>
              <a:t> to enable selective CI execution.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9. Test Data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ThreadLocal </a:t>
            </a:r>
            <a:r>
              <a:rPr>
                <a:latin typeface="Courier"/>
              </a:rPr>
              <a:t>testData</a:t>
            </a:r>
            <a:r>
              <a:rPr/>
              <a:t> holds a </a:t>
            </a:r>
            <a:r>
              <a:rPr>
                <a:latin typeface="Courier"/>
              </a:rPr>
              <a:t>Map&lt;String, Supplier&lt;String&gt;&gt;</a:t>
            </a:r>
            <a:r>
              <a:rPr/>
              <a:t> across step executions in one scenario.</a:t>
            </a:r>
          </a:p>
          <a:p>
            <a:pPr lvl="0"/>
            <a:r>
              <a:rPr/>
              <a:t>Data generated once per scenario: </a:t>
            </a:r>
            <a:r>
              <a:rPr>
                <a:latin typeface="Courier"/>
              </a:rPr>
              <a:t>payloadGeneratorService.generateProductDataMap(countryCode)</a:t>
            </a:r>
            <a:r>
              <a:rPr/>
              <a:t>.</a:t>
            </a:r>
          </a:p>
          <a:p>
            <a:pPr lvl="0"/>
            <a:r>
              <a:rPr/>
              <a:t>Re-used for subsequent Given steps (e.g., chains of publishes).</a:t>
            </a:r>
          </a:p>
          <a:p>
            <a:pPr lvl="0"/>
            <a:r>
              <a:rPr/>
              <a:t>Ensures correlated IDs (SKU, correlationId) remain consistent.</a:t>
            </a:r>
          </a:p>
          <a:p>
            <a:pPr lvl="0" indent="0" marL="0">
              <a:buNone/>
            </a:pPr>
            <a:r>
              <a:rPr/>
              <a:t>Notes: - ThreadLocal isolates parallel scenario runs.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10. Publishing &amp; Event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Given steps produce payloads from XML templates (may contain tokens substituted by suppliers).</a:t>
            </a:r>
          </a:p>
          <a:p>
            <a:pPr lvl="0"/>
            <a:r>
              <a:rPr>
                <a:latin typeface="Courier"/>
              </a:rPr>
              <a:t>payloadGeneratorService.generatePayloadFromXml(file, map)</a:t>
            </a:r>
            <a:r>
              <a:rPr/>
              <a:t> builds final event JSON/XML.</a:t>
            </a:r>
          </a:p>
          <a:p>
            <a:pPr lvl="0"/>
            <a:r>
              <a:rPr>
                <a:latin typeface="Courier"/>
              </a:rPr>
              <a:t>resourceClientService.publishPayloadToEventhub(eventType, payload, map)</a:t>
            </a:r>
            <a:r>
              <a:rPr/>
              <a:t> sends to Event Hub.</a:t>
            </a:r>
          </a:p>
          <a:p>
            <a:pPr lvl="0"/>
            <a:r>
              <a:rPr/>
              <a:t>Sleep intervals (</a:t>
            </a:r>
            <a:r>
              <a:rPr>
                <a:latin typeface="Courier"/>
              </a:rPr>
              <a:t>Thread.sleep</a:t>
            </a:r>
            <a:r>
              <a:rPr/>
              <a:t>) allow downstream ingestion before validations.</a:t>
            </a:r>
          </a:p>
          <a:p>
            <a:pPr lvl="0" indent="0" marL="0">
              <a:buNone/>
            </a:pPr>
            <a:r>
              <a:rPr/>
              <a:t>Notes: - Potential optimization: replace static sleeps with polling.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11. Staging Record Handling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Some scenarios pre-insert staging rows before publishing events.</a:t>
            </a:r>
          </a:p>
          <a:p>
            <a:pPr lvl="0"/>
            <a:r>
              <a:rPr/>
              <a:t>Method </a:t>
            </a:r>
            <a:r>
              <a:rPr>
                <a:latin typeface="Courier"/>
              </a:rPr>
              <a:t>handleStagingRecords(eventType, stagingInputTranslation, map)</a:t>
            </a:r>
            <a:r>
              <a:rPr/>
              <a:t> parses JSON to domain objects and inserts into Cassandra via </a:t>
            </a:r>
            <a:r>
              <a:rPr>
                <a:latin typeface="Courier"/>
              </a:rPr>
              <a:t>databaseClientService</a:t>
            </a:r>
            <a:r>
              <a:rPr/>
              <a:t>.</a:t>
            </a:r>
          </a:p>
          <a:p>
            <a:pPr lvl="0"/>
            <a:r>
              <a:rPr/>
              <a:t>Conditional logic: if status == PERSISTED then also insert final product recipe record.</a:t>
            </a:r>
          </a:p>
          <a:p>
            <a:pPr lvl="0" indent="0" marL="0">
              <a:buNone/>
            </a:pPr>
            <a:r>
              <a:rPr/>
              <a:t>Notes: - Separation of staging vs final tables allows diff validation.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12. Validation Patterns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Then steps query Cassandra for inserted data.</a:t>
            </a:r>
          </a:p>
          <a:p>
            <a:pPr lvl="0"/>
            <a:r>
              <a:rPr/>
              <a:t>Use domain model deserialization (</a:t>
            </a:r>
            <a:r>
              <a:rPr>
                <a:latin typeface="Courier"/>
              </a:rPr>
              <a:t>convertPayloadToObject</a:t>
            </a:r>
            <a:r>
              <a:rPr/>
              <a:t>) + deep structural equality via Jackson serialization.</a:t>
            </a:r>
          </a:p>
          <a:p>
            <a:pPr lvl="0"/>
            <a:r>
              <a:rPr/>
              <a:t>Count assertions ensure expected number of rows.</a:t>
            </a:r>
          </a:p>
          <a:p>
            <a:pPr lvl="0"/>
            <a:r>
              <a:rPr/>
              <a:t>Diff validations compare arrays of </a:t>
            </a:r>
            <a:r>
              <a:rPr>
                <a:latin typeface="Courier"/>
              </a:rPr>
              <a:t>DataStagingDifferences</a:t>
            </a:r>
            <a:r>
              <a:rPr/>
              <a:t> objects.</a:t>
            </a:r>
          </a:p>
          <a:p>
            <a:pPr lvl="0"/>
            <a:r>
              <a:rPr/>
              <a:t>Special case validations (HTTP response codes) via </a:t>
            </a:r>
            <a:r>
              <a:rPr>
                <a:latin typeface="Courier"/>
              </a:rPr>
              <a:t>resourceClientService.invokeEphProductService</a:t>
            </a:r>
            <a:r>
              <a:rPr/>
              <a:t>.</a:t>
            </a:r>
          </a:p>
          <a:p>
            <a:pPr lvl="0" indent="0" marL="0">
              <a:buNone/>
            </a:pPr>
            <a:r>
              <a:rPr/>
              <a:t>Notes: - Serializing to JSON strings avoids brittle object reference comparisons.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13. Example: Response Validation Step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Story step: </a:t>
            </a:r>
            <a:r>
              <a:rPr>
                <a:latin typeface="Courier"/>
              </a:rPr>
              <a:t>Then validate read service 200 after ingestion</a:t>
            </a:r>
            <a:r>
              <a:rPr/>
              <a:t> Mapped method asserts status code, body existence, presence of mandatory fields, null / non-null conditions based on expected code.</a:t>
            </a:r>
          </a:p>
          <a:p>
            <a:pPr lvl="0" indent="0" marL="0">
              <a:buNone/>
            </a:pPr>
            <a:r>
              <a:rPr/>
              <a:t>Notes: - Scenario rows provide expectedResponseCode parameter.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14. Cleanup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Per-scenario cleanup steps delete inserted rows based on event type.</a:t>
            </a:r>
          </a:p>
          <a:p>
            <a:pPr lvl="0"/>
            <a:r>
              <a:rPr>
                <a:latin typeface="Courier"/>
              </a:rPr>
              <a:t>@Then("cleanup the $eventType story data using file $xmlFile")</a:t>
            </a:r>
            <a:r>
              <a:rPr/>
              <a:t> replays expected payload for accurate key extraction.</a:t>
            </a:r>
          </a:p>
          <a:p>
            <a:pPr lvl="0"/>
            <a:r>
              <a:rPr>
                <a:latin typeface="Courier"/>
              </a:rPr>
              <a:t>@AfterStories</a:t>
            </a:r>
            <a:r>
              <a:rPr/>
              <a:t> clears Kafka consumer groups to avoid state leakage.</a:t>
            </a:r>
          </a:p>
          <a:p>
            <a:pPr lvl="0" indent="0" marL="0">
              <a:buNone/>
            </a:pPr>
            <a:r>
              <a:rPr/>
              <a:t>Notes: - Idempotent cleanup prevents test data accumulation.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15. Meta Tags &amp; Filtering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Meta lines: </a:t>
            </a:r>
            <a:r>
              <a:rPr>
                <a:latin typeface="Courier"/>
              </a:rPr>
              <a:t>Meta: @testType functional smoke</a:t>
            </a:r>
            <a:r>
              <a:rPr/>
              <a:t>.</a:t>
            </a:r>
          </a:p>
          <a:p>
            <a:pPr lvl="0"/>
            <a:r>
              <a:rPr/>
              <a:t>Allows selecting subsets (e.g., smoke vs regression) via JBehave configuration (</a:t>
            </a:r>
            <a:r>
              <a:rPr>
                <a:latin typeface="Courier"/>
              </a:rPr>
              <a:t>storyFilter</a:t>
            </a:r>
            <a:r>
              <a:rPr/>
              <a:t> or meta filters in runner).</a:t>
            </a:r>
          </a:p>
          <a:p>
            <a:pPr lvl="0"/>
            <a:r>
              <a:rPr/>
              <a:t>Other tag: </a:t>
            </a:r>
            <a:r>
              <a:rPr>
                <a:latin typeface="Courier"/>
              </a:rPr>
              <a:t>@component rtdx-product-flow</a:t>
            </a:r>
            <a:r>
              <a:rPr/>
              <a:t> for grouping.</a:t>
            </a:r>
          </a:p>
          <a:p>
            <a:pPr lvl="0" indent="0" marL="0">
              <a:buNone/>
            </a:pPr>
            <a:r>
              <a:rPr/>
              <a:t>Notes: - Use consistent tag taxonomy for CI pipelines.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16. Handling Optional / NA Values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Convention: parameter value “NA” triggers early return or skip logic (e.g., skip publishing or validation).</a:t>
            </a:r>
          </a:p>
          <a:p>
            <a:pPr lvl="0"/>
            <a:r>
              <a:rPr/>
              <a:t>Simplifies examples table by keeping a single scenario structure.</a:t>
            </a:r>
          </a:p>
          <a:p>
            <a:pPr lvl="0"/>
            <a:r>
              <a:rPr/>
              <a:t>Ensure step code checks </a:t>
            </a:r>
            <a:r>
              <a:rPr>
                <a:latin typeface="Courier"/>
              </a:rPr>
              <a:t>"NA".equalsIgnoreCase(value)</a:t>
            </a:r>
            <a:r>
              <a:rPr/>
              <a:t> before actions.</a:t>
            </a:r>
          </a:p>
          <a:p>
            <a:pPr lvl="0" indent="0" marL="0">
              <a:buNone/>
            </a:pPr>
            <a:r>
              <a:rPr/>
              <a:t>Notes: - Document NA semantics for new contributors.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17. Error Handling &amp; Assertions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JUnit Jupiter assertions: </a:t>
            </a:r>
            <a:r>
              <a:rPr>
                <a:latin typeface="Courier"/>
              </a:rPr>
              <a:t>assertEquals</a:t>
            </a:r>
            <a:r>
              <a:rPr/>
              <a:t>, </a:t>
            </a:r>
            <a:r>
              <a:rPr>
                <a:latin typeface="Courier"/>
              </a:rPr>
              <a:t>assertTrue</a:t>
            </a:r>
            <a:r>
              <a:rPr/>
              <a:t>, </a:t>
            </a:r>
            <a:r>
              <a:rPr>
                <a:latin typeface="Courier"/>
              </a:rPr>
              <a:t>assertFalse</a:t>
            </a:r>
            <a:r>
              <a:rPr/>
              <a:t>, </a:t>
            </a:r>
            <a:r>
              <a:rPr>
                <a:latin typeface="Courier"/>
              </a:rPr>
              <a:t>assertNotNull</a:t>
            </a:r>
            <a:r>
              <a:rPr/>
              <a:t>.</a:t>
            </a:r>
          </a:p>
          <a:p>
            <a:pPr lvl="0"/>
            <a:r>
              <a:rPr/>
              <a:t>Descriptive messages for mismatch contexts (sku, country, status).</a:t>
            </a:r>
          </a:p>
          <a:p>
            <a:pPr lvl="0"/>
            <a:r>
              <a:rPr/>
              <a:t>Minimal custom exception usage; rely on assertion failures to mark scenario fail.</a:t>
            </a:r>
          </a:p>
          <a:p>
            <a:pPr lvl="0" indent="0" marL="0">
              <a:buNone/>
            </a:pPr>
            <a:r>
              <a:rPr/>
              <a:t>Notes: - Consider adding soft assertions if multiple validations per step become critical.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18. Data Modeling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Domain classes: </a:t>
            </a:r>
            <a:r>
              <a:rPr>
                <a:latin typeface="Courier"/>
              </a:rPr>
              <a:t>productDetail</a:t>
            </a:r>
            <a:r>
              <a:rPr/>
              <a:t>, </a:t>
            </a:r>
            <a:r>
              <a:rPr>
                <a:latin typeface="Courier"/>
              </a:rPr>
              <a:t>componentConsumption</a:t>
            </a:r>
            <a:r>
              <a:rPr/>
              <a:t>, </a:t>
            </a:r>
            <a:r>
              <a:rPr>
                <a:latin typeface="Courier"/>
              </a:rPr>
              <a:t>baseProductConsumption</a:t>
            </a:r>
            <a:r>
              <a:rPr/>
              <a:t>, etc.</a:t>
            </a:r>
          </a:p>
          <a:p>
            <a:pPr lvl="0"/>
            <a:r>
              <a:rPr/>
              <a:t>Mapper choices: Jackson </a:t>
            </a:r>
            <a:r>
              <a:rPr>
                <a:latin typeface="Courier"/>
              </a:rPr>
              <a:t>ObjectMapper</a:t>
            </a:r>
            <a:r>
              <a:rPr/>
              <a:t> for JSON, </a:t>
            </a:r>
            <a:r>
              <a:rPr>
                <a:latin typeface="Courier"/>
              </a:rPr>
              <a:t>XmlMapper</a:t>
            </a:r>
            <a:r>
              <a:rPr/>
              <a:t> for XML.</a:t>
            </a:r>
          </a:p>
          <a:p>
            <a:pPr lvl="0"/>
            <a:r>
              <a:rPr/>
              <a:t>Use of </a:t>
            </a:r>
            <a:r>
              <a:rPr>
                <a:latin typeface="Courier"/>
              </a:rPr>
              <a:t>TypeReference&lt;&gt;</a:t>
            </a:r>
            <a:r>
              <a:rPr/>
              <a:t> for generic collections (e.g., </a:t>
            </a:r>
            <a:r>
              <a:rPr>
                <a:latin typeface="Courier"/>
              </a:rPr>
              <a:t>new TypeReference&lt;List&lt;ConsumptionStagingRecord&gt;&gt;() {}</a:t>
            </a:r>
            <a:r>
              <a:rPr/>
              <a:t>).</a:t>
            </a:r>
          </a:p>
          <a:p>
            <a:pPr lvl="0" indent="0" marL="0">
              <a:buNone/>
            </a:pPr>
            <a:r>
              <a:rPr/>
              <a:t>Notes: - Maintain version stability in model classes to avoid test breakage.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19. Reusable Utilities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>
                <a:latin typeface="Courier"/>
              </a:rPr>
              <a:t>convertPayloadToObject</a:t>
            </a:r>
            <a:r>
              <a:rPr/>
              <a:t> centralizes serialization logic.</a:t>
            </a:r>
          </a:p>
          <a:p>
            <a:pPr lvl="0"/>
            <a:r>
              <a:rPr>
                <a:latin typeface="Courier"/>
              </a:rPr>
              <a:t>payloadGeneratorService</a:t>
            </a:r>
            <a:r>
              <a:rPr/>
              <a:t> handles token replacement and dynamic test data injection.</a:t>
            </a:r>
          </a:p>
          <a:p>
            <a:pPr lvl="0"/>
            <a:r>
              <a:rPr>
                <a:latin typeface="Courier"/>
              </a:rPr>
              <a:t>databaseClientService</a:t>
            </a:r>
            <a:r>
              <a:rPr/>
              <a:t> encapsulates persistence layer queries/deletes.</a:t>
            </a:r>
          </a:p>
          <a:p>
            <a:pPr lvl="0" indent="0" marL="0">
              <a:buNone/>
            </a:pPr>
            <a:r>
              <a:rPr/>
              <a:t>Notes: - Keeps step definitions thin and focused on orchestration.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20. Performance Considerations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Current design uses fixed sleeps (5s / 10s). Could extend with polling loops checking ingestion completion.</a:t>
            </a:r>
          </a:p>
          <a:p>
            <a:pPr lvl="0"/>
            <a:r>
              <a:rPr/>
              <a:t>Bulk inserts done sequentially; potential for batching if supported by service.</a:t>
            </a:r>
          </a:p>
          <a:p>
            <a:pPr lvl="0" indent="0" marL="0">
              <a:buNone/>
            </a:pPr>
            <a:r>
              <a:rPr/>
              <a:t>Notes: - Optimize only after stability; measure flakiness first.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21. Best Practices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Keep story language consistent &amp; business-oriented.</a:t>
            </a:r>
          </a:p>
          <a:p>
            <a:pPr lvl="0"/>
            <a:r>
              <a:rPr/>
              <a:t>Name example columns clearly; avoid ambiguous abbreviations.</a:t>
            </a:r>
          </a:p>
          <a:p>
            <a:pPr lvl="0"/>
            <a:r>
              <a:rPr/>
              <a:t>Limit one behavior focus per scenario section; use separate Scenarios for variants.</a:t>
            </a:r>
          </a:p>
          <a:p>
            <a:pPr lvl="0"/>
            <a:r>
              <a:rPr/>
              <a:t>Centralize data generation; avoid duplication inside steps.</a:t>
            </a:r>
          </a:p>
          <a:p>
            <a:pPr lvl="0"/>
            <a:r>
              <a:rPr/>
              <a:t>Ensure cleanup is always reachable (even after failure) via lifecycle hooks.</a:t>
            </a:r>
          </a:p>
          <a:p>
            <a:pPr lvl="0"/>
            <a:r>
              <a:rPr/>
              <a:t>Tag stories for selective execution in CI.</a:t>
            </a:r>
          </a:p>
          <a:p>
            <a:pPr lvl="0" indent="0" marL="0">
              <a:buNone/>
            </a:pPr>
            <a:r>
              <a:rPr/>
              <a:t>Notes: - Review step patterns quarterly for drift.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22. Common Pitfalls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Changing annotation text breaks story binding.</a:t>
            </a:r>
          </a:p>
          <a:p>
            <a:pPr lvl="0"/>
            <a:r>
              <a:rPr/>
              <a:t>Mismatched example headers vs placeholder names -&gt; missing parameter injection.</a:t>
            </a:r>
          </a:p>
          <a:p>
            <a:pPr lvl="0"/>
            <a:r>
              <a:rPr/>
              <a:t>Overuse of sleeps leads to long test cycles.</a:t>
            </a:r>
          </a:p>
          <a:p>
            <a:pPr lvl="0"/>
            <a:r>
              <a:rPr/>
              <a:t>Skipping cleanup causes environment contamination.</a:t>
            </a:r>
          </a:p>
          <a:p>
            <a:pPr lvl="0"/>
            <a:r>
              <a:rPr/>
              <a:t>Non-deterministic data (timestamps) must be normalized or offset-managed.</a:t>
            </a:r>
          </a:p>
          <a:p>
            <a:pPr lvl="0" indent="0" marL="0">
              <a:buNone/>
            </a:pPr>
            <a:r>
              <a:rPr/>
              <a:t>Notes: - Add validation to detect orphaned test data.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23. Extending the Suite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Add new story: place under </a:t>
            </a:r>
            <a:r>
              <a:rPr>
                <a:latin typeface="Courier"/>
              </a:rPr>
              <a:t>stories/</a:t>
            </a:r>
            <a:r>
              <a:rPr/>
              <a:t>, include Meta tags.</a:t>
            </a:r>
          </a:p>
          <a:p>
            <a:pPr lvl="0"/>
            <a:r>
              <a:rPr/>
              <a:t>Create/extend step method with precise pattern.</a:t>
            </a:r>
          </a:p>
          <a:p>
            <a:pPr lvl="0"/>
            <a:r>
              <a:rPr/>
              <a:t>Add domain serialization if new payload types introduced.</a:t>
            </a:r>
          </a:p>
          <a:p>
            <a:pPr lvl="0"/>
            <a:r>
              <a:rPr/>
              <a:t>Add targeted cleanup logic for new tables.</a:t>
            </a:r>
          </a:p>
          <a:p>
            <a:pPr lvl="0"/>
            <a:r>
              <a:rPr/>
              <a:t>Update CI meta filters if introducing new tags.</a:t>
            </a:r>
          </a:p>
          <a:p>
            <a:pPr lvl="0" indent="0" marL="0">
              <a:buNone/>
            </a:pPr>
            <a:r>
              <a:rPr/>
              <a:t>Notes: - Prefer incremental additions; keep stories small (&lt; ~200 lines).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24. Running Stories (Conceptual)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Configure JBehave runner (JUnit or Spring) specifying story paths &amp; meta filters.</a:t>
            </a:r>
          </a:p>
          <a:p>
            <a:pPr lvl="0"/>
            <a:r>
              <a:rPr/>
              <a:t>Use </a:t>
            </a:r>
            <a:r>
              <a:rPr>
                <a:latin typeface="Courier"/>
              </a:rPr>
              <a:t>mvn test -Dmeta.filter='+functional -smoke'</a:t>
            </a:r>
            <a:r>
              <a:rPr/>
              <a:t> style (example; adapt to actual runner config).</a:t>
            </a:r>
          </a:p>
          <a:p>
            <a:pPr lvl="0"/>
            <a:r>
              <a:rPr/>
              <a:t>Integrate with pipeline jobs for smoke vs full regression.</a:t>
            </a:r>
          </a:p>
          <a:p>
            <a:pPr lvl="0" indent="0" marL="0">
              <a:buNone/>
            </a:pPr>
            <a:r>
              <a:rPr/>
              <a:t>Notes: - Check actual project runner config for exact filter syntax.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25. Traceability Matrix (Illustrative)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Story scenario IDs (e.g., </a:t>
            </a:r>
            <a:r>
              <a:rPr>
                <a:latin typeface="Courier"/>
              </a:rPr>
              <a:t>FT-rtdx-product-recipe-flow-BR004-03-ExtraPSI</a:t>
            </a:r>
            <a:r>
              <a:rPr/>
              <a:t>) map to business rule IDs (BR004) enabling trace linking.</a:t>
            </a:r>
          </a:p>
          <a:p>
            <a:pPr lvl="0"/>
            <a:r>
              <a:rPr/>
              <a:t>Examples table row IDs become report entries.</a:t>
            </a:r>
          </a:p>
          <a:p>
            <a:pPr lvl="0" indent="0" marL="0">
              <a:buNone/>
            </a:pPr>
            <a:r>
              <a:rPr/>
              <a:t>Notes: - Consider exporting results to dashboard keyed by testcaseid.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26. Minor Details &amp; Nuances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Use of comma-separated files/IDs inside single parameter (split within step).</a:t>
            </a:r>
          </a:p>
          <a:p>
            <a:pPr lvl="0"/>
            <a:r>
              <a:rPr/>
              <a:t>Differentiating staging vs final tables by status (PERSISTED triggers second insert).</a:t>
            </a:r>
          </a:p>
          <a:p>
            <a:pPr lvl="0"/>
            <a:r>
              <a:rPr/>
              <a:t>ThreadLocal cleared explicitly in cleanup to avoid memory retention.</a:t>
            </a:r>
          </a:p>
          <a:p>
            <a:pPr lvl="0"/>
            <a:r>
              <a:rPr/>
              <a:t>Diff JSON validation uses array length + deep object equality.</a:t>
            </a:r>
          </a:p>
          <a:p>
            <a:pPr lvl="0"/>
            <a:r>
              <a:rPr/>
              <a:t>Special handling for unknown sellable IDs (set to “UNKNOWN” before validation).</a:t>
            </a:r>
          </a:p>
          <a:p>
            <a:pPr lvl="0" indent="0" marL="0">
              <a:buNone/>
            </a:pPr>
            <a:r>
              <a:rPr/>
              <a:t>Notes: - Document special case transformations.</a:t>
            </a:r>
          </a:p>
        </p:txBody>
      </p:sp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27. Actionable Improvements (Next Steps)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Replace static sleep with polling (max timeout) for faster suites.</a:t>
            </a:r>
          </a:p>
          <a:p>
            <a:pPr lvl="0"/>
            <a:r>
              <a:rPr/>
              <a:t>Add BeforeScenario hook for automatic staging cleanup / isolation.</a:t>
            </a:r>
          </a:p>
          <a:p>
            <a:pPr lvl="0"/>
            <a:r>
              <a:rPr/>
              <a:t>Introduce soft assertion aggregator for richer failure reports.</a:t>
            </a:r>
          </a:p>
          <a:p>
            <a:pPr lvl="0"/>
            <a:r>
              <a:rPr/>
              <a:t>Add meta-driven dynamic timeouts (e.g., @slow).</a:t>
            </a:r>
          </a:p>
          <a:p>
            <a:pPr lvl="0"/>
            <a:r>
              <a:rPr/>
              <a:t>Add helper to auto-generate example rows from CSV.</a:t>
            </a:r>
          </a:p>
          <a:p>
            <a:pPr lvl="0" indent="0" marL="0">
              <a:buNone/>
            </a:pPr>
            <a:r>
              <a:rPr/>
              <a:t>Notes: - Prioritize based on test runtime &amp; flakiness metrics.</a:t>
            </a:r>
          </a:p>
        </p:txBody>
      </p:sp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28. Glossary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EventHub: Messaging system receiving ingestion events.</a:t>
            </a:r>
          </a:p>
          <a:p>
            <a:pPr lvl="0"/>
            <a:r>
              <a:rPr/>
              <a:t>Staging Table: Intermediate persistence for validation &amp; diff tracking.</a:t>
            </a:r>
          </a:p>
          <a:p>
            <a:pPr lvl="0"/>
            <a:r>
              <a:rPr/>
              <a:t>Correlation ID: Unique identifier tying events &amp; audit records.</a:t>
            </a:r>
          </a:p>
          <a:p>
            <a:pPr lvl="0"/>
            <a:r>
              <a:rPr/>
              <a:t>Meta Tag: Story-level label for filtering.</a:t>
            </a:r>
          </a:p>
          <a:p>
            <a:pPr lvl="0"/>
            <a:r>
              <a:rPr/>
              <a:t>Diff JSON: Structured difference representation for staging vs expected.</a:t>
            </a:r>
          </a:p>
          <a:p>
            <a:pPr lvl="0" indent="0" marL="0">
              <a:buNone/>
            </a:pPr>
            <a:r>
              <a:rPr/>
              <a:t>Notes: - Include in onboarding docs.</a:t>
            </a:r>
          </a:p>
        </p:txBody>
      </p:sp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29. Quick Checklist for Adding a Scenario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/>
              <a:t>Identify business rule / behavior.</a:t>
            </a:r>
          </a:p>
          <a:p>
            <a:pPr lvl="0" indent="-342900" marL="342900">
              <a:buAutoNum type="arabicPeriod"/>
            </a:pPr>
            <a:r>
              <a:rPr/>
              <a:t>Draft Given/When/Then in business language.</a:t>
            </a:r>
          </a:p>
          <a:p>
            <a:pPr lvl="0" indent="-342900" marL="342900">
              <a:buAutoNum type="arabicPeriod"/>
            </a:pPr>
            <a:r>
              <a:rPr/>
              <a:t>Define required parameters &amp; columns.</a:t>
            </a:r>
          </a:p>
          <a:p>
            <a:pPr lvl="0" indent="-342900" marL="342900">
              <a:buAutoNum type="arabicPeriod"/>
            </a:pPr>
            <a:r>
              <a:rPr/>
              <a:t>Add row(s) to Examples ensuring data variety.</a:t>
            </a:r>
          </a:p>
          <a:p>
            <a:pPr lvl="0" indent="-342900" marL="342900">
              <a:buAutoNum type="arabicPeriod"/>
            </a:pPr>
            <a:r>
              <a:rPr/>
              <a:t>Confirm step definitions match pattern.</a:t>
            </a:r>
          </a:p>
          <a:p>
            <a:pPr lvl="0" indent="-342900" marL="342900">
              <a:buAutoNum type="arabicPeriod"/>
            </a:pPr>
            <a:r>
              <a:rPr/>
              <a:t>Add validation &amp; cleanup steps.</a:t>
            </a:r>
          </a:p>
          <a:p>
            <a:pPr lvl="0" indent="-342900" marL="342900">
              <a:buAutoNum type="arabicPeriod"/>
            </a:pPr>
            <a:r>
              <a:rPr/>
              <a:t>Tag with appropriate Meta (e.g., @testType functional).</a:t>
            </a:r>
          </a:p>
          <a:p>
            <a:pPr lvl="0" indent="0" marL="0">
              <a:buNone/>
            </a:pPr>
            <a:r>
              <a:rPr/>
              <a:t>Notes: - Perform dry run locally before PR.</a:t>
            </a:r>
          </a:p>
        </p:txBody>
      </p:sp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30. References &amp; Further Reading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JBehave Docs: https://jbehave.org/</a:t>
            </a:r>
          </a:p>
          <a:p>
            <a:pPr lvl="0"/>
            <a:r>
              <a:rPr/>
              <a:t>BDD Intro: https://cucumber.io/docs/bdd/ (conceptual overlap)</a:t>
            </a:r>
          </a:p>
          <a:p>
            <a:pPr lvl="0"/>
            <a:r>
              <a:rPr/>
              <a:t>Project paths: </a:t>
            </a:r>
            <a:r>
              <a:rPr>
                <a:latin typeface="Courier"/>
              </a:rPr>
              <a:t>src/test/resources/stories/</a:t>
            </a:r>
            <a:r>
              <a:rPr/>
              <a:t>, </a:t>
            </a:r>
            <a:r>
              <a:rPr>
                <a:latin typeface="Courier"/>
              </a:rPr>
              <a:t>.../steps/ProductJbehaveSteps.java</a:t>
            </a:r>
          </a:p>
          <a:p>
            <a:pPr lvl="0" indent="0" marL="0">
              <a:buNone/>
            </a:pPr>
            <a:r>
              <a:rPr/>
              <a:t>Notes: - Encourage contributors to read official docs for advanced features (composite steps, parameter converters).</a:t>
            </a:r>
          </a:p>
        </p:txBody>
      </p:sp>
    </p:spTree>
  </p:cSld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31. Appendix: Code Snippets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Parameter binding:</a:t>
            </a:r>
          </a:p>
          <a:p>
            <a:pPr lvl="0" indent="0">
              <a:buNone/>
            </a:pPr>
            <a:r>
              <a:rPr>
                <a:solidFill>
                  <a:srgbClr val="204A87"/>
                </a:solidFill>
                <a:latin typeface="Courier"/>
              </a:rPr>
              <a:t>@Then</a:t>
            </a:r>
            <a:r>
              <a:rPr b="1">
                <a:solidFill>
                  <a:srgbClr val="CE5C00"/>
                </a:solidFill>
                <a:latin typeface="Courier"/>
              </a:rPr>
              <a:t>(</a:t>
            </a:r>
            <a:r>
              <a:rPr>
                <a:solidFill>
                  <a:srgbClr val="4E9A06"/>
                </a:solidFill>
                <a:latin typeface="Courier"/>
              </a:rPr>
              <a:t>"validate read service $expectedResponseCode after ingestion"</a:t>
            </a:r>
            <a:r>
              <a:rPr b="1">
                <a:solidFill>
                  <a:srgbClr val="CE5C00"/>
                </a:solidFill>
                <a:latin typeface="Courier"/>
              </a:rPr>
              <a:t>)</a:t>
            </a:r>
            <a:br/>
            <a:r>
              <a:rPr b="1">
                <a:solidFill>
                  <a:srgbClr val="204A87"/>
                </a:solidFill>
                <a:latin typeface="Courier"/>
              </a:rPr>
              <a:t>public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204A87"/>
                </a:solidFill>
                <a:latin typeface="Courier"/>
              </a:rPr>
              <a:t>void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204A87"/>
                </a:solidFill>
                <a:latin typeface="Courier"/>
              </a:rPr>
              <a:t>validateReadServices</a:t>
            </a:r>
            <a:r>
              <a:rPr b="1">
                <a:solidFill>
                  <a:srgbClr val="CE5C00"/>
                </a:solidFill>
                <a:latin typeface="Courier"/>
              </a:rPr>
              <a:t>(</a:t>
            </a:r>
            <a:r>
              <a:rPr>
                <a:solidFill>
                  <a:srgbClr val="204A87"/>
                </a:solidFill>
                <a:latin typeface="Courier"/>
              </a:rPr>
              <a:t>@Named</a:t>
            </a:r>
            <a:r>
              <a:rPr b="1">
                <a:solidFill>
                  <a:srgbClr val="CE5C00"/>
                </a:solidFill>
                <a:latin typeface="Courier"/>
              </a:rPr>
              <a:t>(</a:t>
            </a:r>
            <a:r>
              <a:rPr>
                <a:solidFill>
                  <a:srgbClr val="4E9A06"/>
                </a:solidFill>
                <a:latin typeface="Courier"/>
              </a:rPr>
              <a:t>"expectedResponseCode"</a:t>
            </a:r>
            <a:r>
              <a:rPr b="1">
                <a:solidFill>
                  <a:srgbClr val="CE5C00"/>
                </a:solidFill>
                <a:latin typeface="Courier"/>
              </a:rPr>
              <a:t>)</a:t>
            </a:r>
            <a:r>
              <a:rPr>
                <a:latin typeface="Courier"/>
              </a:rPr>
              <a:t> String expectedResponseCode</a:t>
            </a:r>
            <a:r>
              <a:rPr b="1">
                <a:solidFill>
                  <a:srgbClr val="CE5C00"/>
                </a:solidFill>
                <a:latin typeface="Courier"/>
              </a:rPr>
              <a:t>)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CE5C00"/>
                </a:solidFill>
                <a:latin typeface="Courier"/>
              </a:rPr>
              <a:t>{</a:t>
            </a:r>
            <a:r>
              <a:rPr>
                <a:latin typeface="Courier"/>
              </a:rPr>
              <a:t> </a:t>
            </a:r>
            <a:r>
              <a:rPr i="1">
                <a:solidFill>
                  <a:srgbClr val="8F5902"/>
                </a:solidFill>
                <a:latin typeface="Courier"/>
              </a:rPr>
              <a:t>/* implementation omitted */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CE5C00"/>
                </a:solidFill>
                <a:latin typeface="Courier"/>
              </a:rPr>
              <a:t>}</a:t>
            </a:r>
          </a:p>
          <a:p>
            <a:pPr lvl="0" indent="0" marL="0">
              <a:buNone/>
            </a:pPr>
            <a:r>
              <a:rPr/>
              <a:t>Staging diff validation:</a:t>
            </a:r>
          </a:p>
          <a:p>
            <a:pPr lvl="0" indent="0">
              <a:buNone/>
            </a:pPr>
            <a:r>
              <a:rPr b="1">
                <a:solidFill>
                  <a:srgbClr val="204A87"/>
                </a:solidFill>
                <a:latin typeface="Courier"/>
              </a:rPr>
              <a:t>private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204A87"/>
                </a:solidFill>
                <a:latin typeface="Courier"/>
              </a:rPr>
              <a:t>void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204A87"/>
                </a:solidFill>
                <a:latin typeface="Courier"/>
              </a:rPr>
              <a:t>validateDiffJson</a:t>
            </a:r>
            <a:r>
              <a:rPr b="1">
                <a:solidFill>
                  <a:srgbClr val="CE5C00"/>
                </a:solidFill>
                <a:latin typeface="Courier"/>
              </a:rPr>
              <a:t>(</a:t>
            </a:r>
            <a:r>
              <a:rPr>
                <a:latin typeface="Courier"/>
              </a:rPr>
              <a:t>String expectedFileName</a:t>
            </a:r>
            <a:r>
              <a:rPr b="1">
                <a:solidFill>
                  <a:srgbClr val="CE5C00"/>
                </a:solidFill>
                <a:latin typeface="Courier"/>
              </a:rPr>
              <a:t>,</a:t>
            </a:r>
            <a:r>
              <a:rPr>
                <a:latin typeface="Courier"/>
              </a:rPr>
              <a:t> String actualDiffJson</a:t>
            </a:r>
            <a:r>
              <a:rPr b="1">
                <a:solidFill>
                  <a:srgbClr val="CE5C00"/>
                </a:solidFill>
                <a:latin typeface="Courier"/>
              </a:rPr>
              <a:t>)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CE5C00"/>
                </a:solidFill>
                <a:latin typeface="Courier"/>
              </a:rPr>
              <a:t>{</a:t>
            </a:r>
            <a:r>
              <a:rPr>
                <a:latin typeface="Courier"/>
              </a:rPr>
              <a:t> </a:t>
            </a:r>
            <a:r>
              <a:rPr i="1">
                <a:solidFill>
                  <a:srgbClr val="8F5902"/>
                </a:solidFill>
                <a:latin typeface="Courier"/>
              </a:rPr>
              <a:t>/* compare arrays */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CE5C00"/>
                </a:solidFill>
                <a:latin typeface="Courier"/>
              </a:rPr>
              <a:t>}</a:t>
            </a:r>
          </a:p>
          <a:p>
            <a:pPr lvl="0" indent="0" marL="0">
              <a:buNone/>
            </a:pPr>
            <a:r>
              <a:rPr/>
              <a:t>Cleanup:</a:t>
            </a:r>
          </a:p>
          <a:p>
            <a:pPr lvl="0" indent="0">
              <a:buNone/>
            </a:pPr>
            <a:r>
              <a:rPr>
                <a:solidFill>
                  <a:srgbClr val="204A87"/>
                </a:solidFill>
                <a:latin typeface="Courier"/>
              </a:rPr>
              <a:t>@AfterStories</a:t>
            </a:r>
            <a:br/>
            <a:r>
              <a:rPr b="1">
                <a:solidFill>
                  <a:srgbClr val="204A87"/>
                </a:solidFill>
                <a:latin typeface="Courier"/>
              </a:rPr>
              <a:t>public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204A87"/>
                </a:solidFill>
                <a:latin typeface="Courier"/>
              </a:rPr>
              <a:t>void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204A87"/>
                </a:solidFill>
                <a:latin typeface="Courier"/>
              </a:rPr>
              <a:t>cleanupResource</a:t>
            </a:r>
            <a:r>
              <a:rPr b="1">
                <a:solidFill>
                  <a:srgbClr val="CE5C00"/>
                </a:solidFill>
                <a:latin typeface="Courier"/>
              </a:rPr>
              <a:t>()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CE5C00"/>
                </a:solidFill>
                <a:latin typeface="Courier"/>
              </a:rPr>
              <a:t>{</a:t>
            </a:r>
            <a:r>
              <a:rPr>
                <a:latin typeface="Courier"/>
              </a:rPr>
              <a:t> </a:t>
            </a:r>
            <a:r>
              <a:rPr i="1">
                <a:solidFill>
                  <a:srgbClr val="8F5902"/>
                </a:solidFill>
                <a:latin typeface="Courier"/>
              </a:rPr>
              <a:t>/* delete consumer groups */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CE5C00"/>
                </a:solidFill>
                <a:latin typeface="Courier"/>
              </a:rPr>
              <a:t>}</a:t>
            </a:r>
          </a:p>
          <a:p>
            <a:pPr lvl="0" indent="0" marL="0">
              <a:buNone/>
            </a:pPr>
            <a:r>
              <a:rPr/>
              <a:t>Notes: - Keep snippets minimal; full file exists in repo.</a:t>
            </a:r>
          </a:p>
        </p:txBody>
      </p:sp>
    </p:spTree>
  </p:cSld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32. Story Anatomy: BPC Ingestion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Extract from </a:t>
            </a:r>
            <a:r>
              <a:rPr>
                <a:latin typeface="Courier"/>
              </a:rPr>
              <a:t>RT-rtdx-product-bpc-ingestion.story</a:t>
            </a:r>
            <a:r>
              <a:rPr/>
              <a:t>:</a:t>
            </a:r>
          </a:p>
          <a:p>
            <a:pPr lvl="0" indent="0">
              <a:buNone/>
            </a:pPr>
            <a:r>
              <a:rPr>
                <a:latin typeface="Courier"/>
              </a:rPr>
              <a:t>Scenario: Check bpc ingestion is inserting valid event data into sbux_bpc look-up table and invalid data into consumption_staging table
Meta: @testType component regression
Given Dependency publish &lt;dependencyEventType&gt; event using &lt;pdxFile&gt; file and publish &lt;eventType&gt; event to EH using file &lt;bpcFile&gt; with &lt;countryCodes&gt;
Then wait for the processing for &lt;delay&gt; seconds
Then validate &lt;eventType&gt; record in lookUp table using &lt;expectedLookUpRecords&gt; file
Then verify ingestion event with &lt;logStatus&gt;
Then delete the &lt;eventType&gt; data inserted in the staging table
Then cleanup the &lt;eventType&gt; story data using file &lt;expectedLookUpRecords&gt;
And cleanup the &lt;eventType&gt; staging data</a:t>
            </a:r>
          </a:p>
          <a:p>
            <a:pPr lvl="0" indent="0" marL="0">
              <a:buNone/>
            </a:pPr>
            <a:r>
              <a:rPr/>
              <a:t>Highlights: - Mixed Given with dependency + main publish sequence. - Explicit wait step parameterized ( seconds) – candidate for polling enhancement. - Multiple cleanup &amp; validation Thens (sequential outcomes vs single Then + And). - Meta combines multiple tags (@testType component regression) enabling dual classification.</a:t>
            </a:r>
          </a:p>
          <a:p>
            <a:pPr lvl="0" indent="0" marL="0">
              <a:buNone/>
            </a:pPr>
            <a:r>
              <a:rPr/>
              <a:t>Notes: - Consider consolidating sequential cleanup steps into lifecycle hooks to reduce repetition.</a:t>
            </a:r>
          </a:p>
        </p:txBody>
      </p:sp>
    </p:spTree>
  </p:cSld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33. Advanced Meta Filtering &amp; CI Usage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Sample Maven invocations (adjust to actual runner config):</a:t>
            </a:r>
          </a:p>
          <a:p>
            <a:pPr lvl="0" indent="0">
              <a:buNone/>
            </a:pPr>
            <a:r>
              <a:rPr>
                <a:latin typeface="Courier"/>
              </a:rPr>
              <a:t># Only component tests
mvn test -Dmeta.filter="+testType component"
# Smoke OR component
mvn test -Dmeta.filter="+testType smoke,+testType component"
# Exclude regression
mvn test -Dmeta.filter="-testType regression"
# High-priority functional tests
mvn test -Dmeta.filter="+testType functional +priority high"</a:t>
            </a:r>
          </a:p>
          <a:p>
            <a:pPr lvl="0" indent="0" marL="0">
              <a:buNone/>
            </a:pPr>
            <a:r>
              <a:rPr/>
              <a:t>Recommendations: - Add @priority and @risk meta to enable risk-based subsets. - Introduce @duration fast|medium|slow to allow time-boxed runs. - Enforce a linter that flags scenarios missing @testType.</a:t>
            </a:r>
          </a:p>
          <a:p>
            <a:pPr lvl="0" indent="0" marL="0">
              <a:buNone/>
            </a:pPr>
            <a:r>
              <a:rPr/>
              <a:t>Notes: - Meta filters are additive/subtractive; clearly document precedence in CONTRIBUTING.md.</a:t>
            </a:r>
          </a:p>
        </p:txBody>
      </p:sp>
    </p:spTree>
  </p:cSld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34. Converting Markdown to PPTX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Option 1: Pandoc (recommended)</a:t>
            </a:r>
          </a:p>
          <a:p>
            <a:pPr lvl="0" indent="0">
              <a:buNone/>
            </a:pPr>
            <a:r>
              <a:rPr>
                <a:latin typeface="Courier"/>
              </a:rPr>
              <a:t>pandoc JBehave_Basics_Presentation.md -o JBehave_Basics_Presentation.pptx \
  --from markdown+emoji --slide-level=1 \
  --metadata title="JBehave Basics &amp; Applied Overview"</a:t>
            </a:r>
          </a:p>
          <a:p>
            <a:pPr lvl="0" indent="0" marL="0">
              <a:buNone/>
            </a:pPr>
            <a:r>
              <a:rPr/>
              <a:t>Option 2: Reveal.js (HTML deck)</a:t>
            </a:r>
          </a:p>
          <a:p>
            <a:pPr lvl="0" indent="0">
              <a:buNone/>
            </a:pPr>
            <a:r>
              <a:rPr>
                <a:latin typeface="Courier"/>
              </a:rPr>
              <a:t>pandoc JBehave_Basics_Presentation.md -t revealjs -s -o jbehave_basics.html</a:t>
            </a:r>
          </a:p>
          <a:p>
            <a:pPr lvl="0" indent="0" marL="0">
              <a:buNone/>
            </a:pPr>
            <a:r>
              <a:rPr/>
              <a:t>Option 3: VS Code / IntelliJ plugin to export markdown slides.</a:t>
            </a:r>
          </a:p>
          <a:p>
            <a:pPr lvl="0" indent="0" marL="0">
              <a:buNone/>
            </a:pPr>
            <a:r>
              <a:rPr/>
              <a:t>Tips: - Use H1 (#) for slide separation (already done). - Validate code block syntax highlighting preserved in PPTX. - Post-export, add corporate template styling manually.</a:t>
            </a:r>
          </a:p>
          <a:p>
            <a:pPr lvl="0" indent="0" marL="0">
              <a:buNone/>
            </a:pPr>
            <a:r>
              <a:rPr/>
              <a:t>Notes: - Automate conversion in CI (e.g., nightly doc build) to keep slides current.</a:t>
            </a:r>
          </a:p>
        </p:txBody>
      </p:sp>
    </p:spTree>
  </p:cSld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35. Programmatic Slide Structure (For Automation)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A JSON representation file </a:t>
            </a:r>
            <a:r>
              <a:rPr>
                <a:latin typeface="Courier"/>
              </a:rPr>
              <a:t>JBehave_Basics_Presentation_Slides.json</a:t>
            </a:r>
            <a:r>
              <a:rPr/>
              <a:t> is provided (see repository) containing ordered slides: title, bullet points, notes.</a:t>
            </a:r>
          </a:p>
          <a:p>
            <a:pPr lvl="0"/>
            <a:r>
              <a:rPr/>
              <a:t>Use script to ingest JSON and generate PPTX via Apache POI or python-pptx.</a:t>
            </a:r>
          </a:p>
          <a:p>
            <a:pPr lvl="0" indent="0" marL="0">
              <a:buNone/>
            </a:pPr>
            <a:r>
              <a:rPr/>
              <a:t>Notes: - Keeps content source-of-truth in markdown while enabling automated distribution.</a:t>
            </a:r>
          </a:p>
        </p:txBody>
      </p:sp>
    </p:spTree>
  </p:cSld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36. Closing Slide (Use for Presentation Delivery)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Key Takeaways: - Stories = living specifications; keep language business-centric. - Step definitions should orchestrate, not embed heavy logic. - Meta tagging unlocks selective, risk-based execution. - Data-driven Examples amplify coverage efficiently. - Continuous improvement: optimize waits, reduce duplication, enhance reporting.</a:t>
            </a:r>
          </a:p>
          <a:p>
            <a:pPr lvl="0" indent="0" marL="0">
              <a:buNone/>
            </a:pPr>
            <a:r>
              <a:rPr/>
              <a:t>Call to Action: - Adopt proposed enhancements in upcoming sprint; nominate owner for polling utility.</a:t>
            </a:r>
          </a:p>
          <a:p>
            <a:pPr lvl="0" indent="0" marL="0">
              <a:buNone/>
            </a:pPr>
            <a:r>
              <a:rPr/>
              <a:t>Notes: - Invite feedback; set review cadence (monthly) for test suite health metrics.</a:t>
            </a:r>
          </a:p>
        </p:txBody>
      </p:sp>
    </p:spTree>
  </p:cSld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37. Quick Next Steps / Owner Actions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Prioritize replacing sleeps with polling and add BeforeScenario cleanup hook.</a:t>
            </a:r>
          </a:p>
          <a:p>
            <a:pPr lvl="0"/>
            <a:r>
              <a:rPr/>
              <a:t>Add CI tags/@priority to enable risk-based runs.</a:t>
            </a:r>
          </a:p>
          <a:p>
            <a:pPr lvl="0"/>
            <a:r>
              <a:rPr/>
              <a:t>Run a pilot: convert 3 high-value stories to the new pattern and validate in CI.</a:t>
            </a:r>
          </a:p>
          <a:p>
            <a:pPr lvl="0" indent="0" marL="0">
              <a:buNone/>
            </a:pPr>
            <a:r>
              <a:rPr/>
              <a:t>Notes: - Capture metrics (runtime, flakiness) to measure improvement impact.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2025-11-01T15:01:19Z</dcterms:created>
  <dcterms:modified xsi:type="dcterms:W3CDTF">2025-11-01T15:01:19Z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